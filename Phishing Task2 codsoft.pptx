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2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2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8503920" y="-2011680"/>
            <a:ext cx="5943600" cy="5943600"/>
          </a:xfrm>
          <a:prstGeom prst="ellipse"/>
          <a:solidFill>
            <a:srgbClr val="121D33"/>
          </a:solidFill>
        </p:spPr>
      </p:sp>
      <p:sp>
        <p:nvSpPr>
          <p:cNvPr id="1048577" name="Shape 1"/>
          <p:cNvSpPr/>
          <p:nvPr/>
        </p:nvSpPr>
        <p:spPr>
          <a:xfrm>
            <a:off x="9692640" y="-914400"/>
            <a:ext cx="3657600" cy="3657600"/>
          </a:xfrm>
          <a:prstGeom prst="ellipse"/>
          <a:solidFill>
            <a:srgbClr val="223357"/>
          </a:solidFill>
        </p:spPr>
      </p:sp>
      <p:sp>
        <p:nvSpPr>
          <p:cNvPr id="1048578" name="Shape 2"/>
          <p:cNvSpPr/>
          <p:nvPr/>
        </p:nvSpPr>
        <p:spPr>
          <a:xfrm>
            <a:off x="822960" y="822960"/>
            <a:ext cx="1737360" cy="1737360"/>
          </a:xfrm>
          <a:prstGeom prst="ellipse"/>
          <a:solidFill>
            <a:srgbClr val="223357"/>
          </a:solidFill>
          <a:ln w="19050">
            <a:solidFill>
              <a:srgbClr val="E8823C"/>
            </a:solidFill>
            <a:prstDash val="solid"/>
          </a:ln>
        </p:spPr>
      </p:sp>
      <p:pic>
        <p:nvPicPr>
          <p:cNvPr id="2097152" name="Image 0" descr="icons/shield_whi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234440" y="1234440"/>
            <a:ext cx="914400" cy="914400"/>
          </a:xfrm>
          <a:prstGeom prst="rect"/>
        </p:spPr>
      </p:pic>
      <p:sp>
        <p:nvSpPr>
          <p:cNvPr id="1048579" name="Text 3"/>
          <p:cNvSpPr/>
          <p:nvPr/>
        </p:nvSpPr>
        <p:spPr>
          <a:xfrm>
            <a:off x="822960" y="2788920"/>
            <a:ext cx="7315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30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</a:t>
            </a:r>
            <a:endParaRPr dirty="0" sz="1400" lang="en-US"/>
          </a:p>
        </p:txBody>
      </p:sp>
      <p:sp>
        <p:nvSpPr>
          <p:cNvPr id="1048580" name="Text 4"/>
          <p:cNvSpPr/>
          <p:nvPr/>
        </p:nvSpPr>
        <p:spPr>
          <a:xfrm>
            <a:off x="822960" y="3154680"/>
            <a:ext cx="9601200" cy="11887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Program</a:t>
            </a:r>
            <a:endParaRPr dirty="0" sz="4400" lang="en-US"/>
          </a:p>
        </p:txBody>
      </p:sp>
      <p:sp>
        <p:nvSpPr>
          <p:cNvPr id="1048581" name="Text 5"/>
          <p:cNvSpPr/>
          <p:nvPr/>
        </p:nvSpPr>
        <p:spPr>
          <a:xfrm>
            <a:off x="822960" y="4160520"/>
            <a:ext cx="73152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r>
              <a:rPr dirty="0" sz="2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b="1" dirty="0" sz="2000" lang="en-US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r>
              <a:rPr dirty="0" sz="2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b="1" dirty="0" sz="2000" lang="en-US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dirty="0" sz="2000" lang="en-US"/>
          </a:p>
        </p:txBody>
      </p:sp>
      <p:sp>
        <p:nvSpPr>
          <p:cNvPr id="1048582" name="Shape 6"/>
          <p:cNvSpPr/>
          <p:nvPr/>
        </p:nvSpPr>
        <p:spPr>
          <a:xfrm>
            <a:off x="822960" y="4892040"/>
            <a:ext cx="2926080" cy="0"/>
          </a:xfrm>
          <a:prstGeom prst="line"/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048583" name="Text 7"/>
          <p:cNvSpPr/>
          <p:nvPr/>
        </p:nvSpPr>
        <p:spPr>
          <a:xfrm>
            <a:off x="822960" y="5120640"/>
            <a:ext cx="54864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dirty="0" sz="1400" lang="en-US"/>
          </a:p>
        </p:txBody>
      </p:sp>
      <p:sp>
        <p:nvSpPr>
          <p:cNvPr id="1048584" name="Text 8"/>
          <p:cNvSpPr/>
          <p:nvPr/>
        </p:nvSpPr>
        <p:spPr>
          <a:xfrm>
            <a:off x="822960" y="5486400"/>
            <a:ext cx="54864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Organization: </a:t>
            </a: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</a:t>
            </a:r>
            <a:endParaRPr dirty="0" sz="14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ext 0"/>
          <p:cNvSpPr/>
          <p:nvPr/>
        </p:nvSpPr>
        <p:spPr>
          <a:xfrm>
            <a:off x="548640" y="320040"/>
            <a:ext cx="914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E0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dirty="0" sz="1600" lang="en-US"/>
          </a:p>
        </p:txBody>
      </p:sp>
      <p:sp>
        <p:nvSpPr>
          <p:cNvPr id="1048589" name="Text 1"/>
          <p:cNvSpPr/>
          <p:nvPr/>
        </p:nvSpPr>
        <p:spPr>
          <a:xfrm>
            <a:off x="548640" y="594360"/>
            <a:ext cx="73152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dirty="0" sz="3200" lang="en-US"/>
          </a:p>
        </p:txBody>
      </p:sp>
      <p:sp>
        <p:nvSpPr>
          <p:cNvPr id="1048590" name="Shape 2"/>
          <p:cNvSpPr/>
          <p:nvPr/>
        </p:nvSpPr>
        <p:spPr>
          <a:xfrm>
            <a:off x="548640" y="146304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591" name="Shape 3"/>
          <p:cNvSpPr/>
          <p:nvPr/>
        </p:nvSpPr>
        <p:spPr>
          <a:xfrm>
            <a:off x="868680" y="1783080"/>
            <a:ext cx="548640" cy="548640"/>
          </a:xfrm>
          <a:prstGeom prst="ellipse"/>
          <a:solidFill>
            <a:srgbClr val="1B2A4A"/>
          </a:solidFill>
        </p:spPr>
      </p:sp>
      <p:pic>
        <p:nvPicPr>
          <p:cNvPr id="2097153" name="Image 0" descr="icons/mail_whi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05840" y="1920240"/>
            <a:ext cx="274320" cy="274320"/>
          </a:xfrm>
          <a:prstGeom prst="rect"/>
        </p:spPr>
      </p:pic>
      <p:sp>
        <p:nvSpPr>
          <p:cNvPr id="1048592" name="Text 4"/>
          <p:cNvSpPr/>
          <p:nvPr/>
        </p:nvSpPr>
        <p:spPr>
          <a:xfrm>
            <a:off x="1600200" y="1783080"/>
            <a:ext cx="3657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dirty="0" sz="1600" lang="en-US"/>
          </a:p>
        </p:txBody>
      </p:sp>
      <p:sp>
        <p:nvSpPr>
          <p:cNvPr id="1048593" name="Text 5"/>
          <p:cNvSpPr/>
          <p:nvPr/>
        </p:nvSpPr>
        <p:spPr>
          <a:xfrm>
            <a:off x="868680" y="2377440"/>
            <a:ext cx="4572000" cy="128016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engineering attack where attackers impersonate a trusted person, company, or service to trick users into revealing sensitive information or clicking malicious links.</a:t>
            </a:r>
            <a:endParaRPr dirty="0" sz="1350" lang="en-US"/>
          </a:p>
        </p:txBody>
      </p:sp>
      <p:sp>
        <p:nvSpPr>
          <p:cNvPr id="1048594" name="Shape 6"/>
          <p:cNvSpPr/>
          <p:nvPr/>
        </p:nvSpPr>
        <p:spPr>
          <a:xfrm>
            <a:off x="548640" y="397764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595" name="Text 7"/>
          <p:cNvSpPr/>
          <p:nvPr/>
        </p:nvSpPr>
        <p:spPr>
          <a:xfrm>
            <a:off x="868680" y="4160520"/>
            <a:ext cx="4572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10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TARGETS</a:t>
            </a:r>
            <a:endParaRPr dirty="0" sz="1300" lang="en-US"/>
          </a:p>
        </p:txBody>
      </p:sp>
      <p:sp>
        <p:nvSpPr>
          <p:cNvPr id="1048596" name="Shape 8"/>
          <p:cNvSpPr/>
          <p:nvPr/>
        </p:nvSpPr>
        <p:spPr>
          <a:xfrm>
            <a:off x="868680" y="4572000"/>
            <a:ext cx="411480" cy="41148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54" name="Image 1" descr="icons/lock_navy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50976" y="4654296"/>
            <a:ext cx="246888" cy="246888"/>
          </a:xfrm>
          <a:prstGeom prst="rect"/>
        </p:spPr>
      </p:pic>
      <p:sp>
        <p:nvSpPr>
          <p:cNvPr id="1048597" name="Text 9"/>
          <p:cNvSpPr/>
          <p:nvPr/>
        </p:nvSpPr>
        <p:spPr>
          <a:xfrm>
            <a:off x="1371600" y="4599432"/>
            <a:ext cx="17373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dirty="0" sz="1300" lang="en-US"/>
          </a:p>
        </p:txBody>
      </p:sp>
      <p:sp>
        <p:nvSpPr>
          <p:cNvPr id="1048598" name="Shape 10"/>
          <p:cNvSpPr/>
          <p:nvPr/>
        </p:nvSpPr>
        <p:spPr>
          <a:xfrm>
            <a:off x="3337560" y="4572000"/>
            <a:ext cx="411480" cy="41148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55" name="Image 2" descr="icons/smartphone_navy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419856" y="4654296"/>
            <a:ext cx="246888" cy="246888"/>
          </a:xfrm>
          <a:prstGeom prst="rect"/>
        </p:spPr>
      </p:pic>
      <p:sp>
        <p:nvSpPr>
          <p:cNvPr id="1048599" name="Text 11"/>
          <p:cNvSpPr/>
          <p:nvPr/>
        </p:nvSpPr>
        <p:spPr>
          <a:xfrm>
            <a:off x="3840480" y="4599432"/>
            <a:ext cx="17373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</a:t>
            </a:r>
            <a:endParaRPr dirty="0" sz="1300" lang="en-US"/>
          </a:p>
        </p:txBody>
      </p:sp>
      <p:sp>
        <p:nvSpPr>
          <p:cNvPr id="1048600" name="Shape 12"/>
          <p:cNvSpPr/>
          <p:nvPr/>
        </p:nvSpPr>
        <p:spPr>
          <a:xfrm>
            <a:off x="868680" y="5257800"/>
            <a:ext cx="411480" cy="41148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56" name="Image 3" descr="icons/shield_navy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50976" y="5340096"/>
            <a:ext cx="246888" cy="246888"/>
          </a:xfrm>
          <a:prstGeom prst="rect"/>
        </p:spPr>
      </p:pic>
      <p:sp>
        <p:nvSpPr>
          <p:cNvPr id="1048601" name="Text 13"/>
          <p:cNvSpPr/>
          <p:nvPr/>
        </p:nvSpPr>
        <p:spPr>
          <a:xfrm>
            <a:off x="1371600" y="5285232"/>
            <a:ext cx="17373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Details</a:t>
            </a:r>
            <a:endParaRPr dirty="0" sz="1300" lang="en-US"/>
          </a:p>
        </p:txBody>
      </p:sp>
      <p:sp>
        <p:nvSpPr>
          <p:cNvPr id="1048602" name="Shape 14"/>
          <p:cNvSpPr/>
          <p:nvPr/>
        </p:nvSpPr>
        <p:spPr>
          <a:xfrm>
            <a:off x="3337560" y="5257800"/>
            <a:ext cx="411480" cy="41148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57" name="Image 4" descr="icons/user_navy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3419856" y="5340096"/>
            <a:ext cx="246888" cy="246888"/>
          </a:xfrm>
          <a:prstGeom prst="rect"/>
        </p:spPr>
      </p:pic>
      <p:sp>
        <p:nvSpPr>
          <p:cNvPr id="1048603" name="Text 15"/>
          <p:cNvSpPr/>
          <p:nvPr/>
        </p:nvSpPr>
        <p:spPr>
          <a:xfrm>
            <a:off x="3840480" y="5285232"/>
            <a:ext cx="17373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</a:t>
            </a:r>
            <a:endParaRPr dirty="0" sz="1300" lang="en-US"/>
          </a:p>
        </p:txBody>
      </p:sp>
      <p:sp>
        <p:nvSpPr>
          <p:cNvPr id="1048604" name="Shape 16"/>
          <p:cNvSpPr/>
          <p:nvPr/>
        </p:nvSpPr>
        <p:spPr>
          <a:xfrm>
            <a:off x="5989320" y="1463040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05" name="Text 17"/>
          <p:cNvSpPr/>
          <p:nvPr/>
        </p:nvSpPr>
        <p:spPr>
          <a:xfrm>
            <a:off x="6309360" y="1691640"/>
            <a:ext cx="4572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10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FLOW</a:t>
            </a:r>
            <a:endParaRPr dirty="0" sz="1300" lang="en-US"/>
          </a:p>
        </p:txBody>
      </p:sp>
      <p:sp>
        <p:nvSpPr>
          <p:cNvPr id="1048606" name="Shape 18"/>
          <p:cNvSpPr/>
          <p:nvPr/>
        </p:nvSpPr>
        <p:spPr>
          <a:xfrm>
            <a:off x="6309360" y="22402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223357"/>
          </a:solidFill>
        </p:spPr>
      </p:sp>
      <p:sp>
        <p:nvSpPr>
          <p:cNvPr id="1048607" name="Shape 19"/>
          <p:cNvSpPr/>
          <p:nvPr/>
        </p:nvSpPr>
        <p:spPr>
          <a:xfrm>
            <a:off x="6492240" y="2423160"/>
            <a:ext cx="502920" cy="502920"/>
          </a:xfrm>
          <a:prstGeom prst="ellipse"/>
          <a:solidFill>
            <a:srgbClr val="121D33"/>
          </a:solidFill>
        </p:spPr>
      </p:sp>
      <p:pic>
        <p:nvPicPr>
          <p:cNvPr id="2097158" name="Image 5" descr="icons/user_whit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620256" y="2551176"/>
            <a:ext cx="246888" cy="246888"/>
          </a:xfrm>
          <a:prstGeom prst="rect"/>
        </p:spPr>
      </p:pic>
      <p:sp>
        <p:nvSpPr>
          <p:cNvPr id="1048608" name="Text 20"/>
          <p:cNvSpPr/>
          <p:nvPr/>
        </p:nvSpPr>
        <p:spPr>
          <a:xfrm>
            <a:off x="7178040" y="2240280"/>
            <a:ext cx="3977640" cy="8686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dirty="0" sz="1350" lang="en-US"/>
          </a:p>
        </p:txBody>
      </p:sp>
      <p:pic>
        <p:nvPicPr>
          <p:cNvPr id="2097159" name="Image 6" descr="icons/arrowright_whit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 rot="5400000">
            <a:off x="8732520" y="3136392"/>
            <a:ext cx="201168" cy="201168"/>
          </a:xfrm>
          <a:prstGeom prst="rect"/>
        </p:spPr>
      </p:pic>
      <p:sp>
        <p:nvSpPr>
          <p:cNvPr id="1048609" name="Shape 21"/>
          <p:cNvSpPr/>
          <p:nvPr/>
        </p:nvSpPr>
        <p:spPr>
          <a:xfrm>
            <a:off x="6309360" y="329184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223357"/>
          </a:solidFill>
        </p:spPr>
      </p:sp>
      <p:sp>
        <p:nvSpPr>
          <p:cNvPr id="1048610" name="Shape 22"/>
          <p:cNvSpPr/>
          <p:nvPr/>
        </p:nvSpPr>
        <p:spPr>
          <a:xfrm>
            <a:off x="6492240" y="3474720"/>
            <a:ext cx="502920" cy="502920"/>
          </a:xfrm>
          <a:prstGeom prst="ellipse"/>
          <a:solidFill>
            <a:srgbClr val="121D33"/>
          </a:solidFill>
        </p:spPr>
      </p:sp>
      <p:pic>
        <p:nvPicPr>
          <p:cNvPr id="2097160" name="Image 7" descr="icons/mail_whi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20256" y="3602736"/>
            <a:ext cx="246888" cy="246888"/>
          </a:xfrm>
          <a:prstGeom prst="rect"/>
        </p:spPr>
      </p:pic>
      <p:sp>
        <p:nvSpPr>
          <p:cNvPr id="1048611" name="Text 23"/>
          <p:cNvSpPr/>
          <p:nvPr/>
        </p:nvSpPr>
        <p:spPr>
          <a:xfrm>
            <a:off x="7178040" y="3291840"/>
            <a:ext cx="3977640" cy="8686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 / Website</a:t>
            </a:r>
            <a:endParaRPr dirty="0" sz="1350" lang="en-US"/>
          </a:p>
        </p:txBody>
      </p:sp>
      <p:pic>
        <p:nvPicPr>
          <p:cNvPr id="2097161" name="Image 8" descr="icons/arrowright_whit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 rot="5400000">
            <a:off x="8732520" y="4187952"/>
            <a:ext cx="201168" cy="201168"/>
          </a:xfrm>
          <a:prstGeom prst="rect"/>
        </p:spPr>
      </p:pic>
      <p:sp>
        <p:nvSpPr>
          <p:cNvPr id="1048612" name="Shape 24"/>
          <p:cNvSpPr/>
          <p:nvPr/>
        </p:nvSpPr>
        <p:spPr>
          <a:xfrm>
            <a:off x="6309360" y="43434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223357"/>
          </a:solidFill>
        </p:spPr>
      </p:sp>
      <p:sp>
        <p:nvSpPr>
          <p:cNvPr id="1048613" name="Shape 25"/>
          <p:cNvSpPr/>
          <p:nvPr/>
        </p:nvSpPr>
        <p:spPr>
          <a:xfrm>
            <a:off x="6492240" y="4526280"/>
            <a:ext cx="502920" cy="502920"/>
          </a:xfrm>
          <a:prstGeom prst="ellipse"/>
          <a:solidFill>
            <a:srgbClr val="121D33"/>
          </a:solidFill>
        </p:spPr>
      </p:sp>
      <p:pic>
        <p:nvPicPr>
          <p:cNvPr id="2097162" name="Image 9" descr="icons/user_whit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620256" y="4654296"/>
            <a:ext cx="246888" cy="246888"/>
          </a:xfrm>
          <a:prstGeom prst="rect"/>
        </p:spPr>
      </p:pic>
      <p:sp>
        <p:nvSpPr>
          <p:cNvPr id="1048614" name="Text 26"/>
          <p:cNvSpPr/>
          <p:nvPr/>
        </p:nvSpPr>
        <p:spPr>
          <a:xfrm>
            <a:off x="7178040" y="4343400"/>
            <a:ext cx="3977640" cy="8686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dirty="0" sz="1350" lang="en-US"/>
          </a:p>
        </p:txBody>
      </p:sp>
      <p:pic>
        <p:nvPicPr>
          <p:cNvPr id="2097163" name="Image 10" descr="icons/arrowright_whit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 rot="5400000">
            <a:off x="8732520" y="5239512"/>
            <a:ext cx="201168" cy="201168"/>
          </a:xfrm>
          <a:prstGeom prst="rect"/>
        </p:spPr>
      </p:pic>
      <p:sp>
        <p:nvSpPr>
          <p:cNvPr id="1048615" name="Shape 27"/>
          <p:cNvSpPr/>
          <p:nvPr/>
        </p:nvSpPr>
        <p:spPr>
          <a:xfrm>
            <a:off x="6309360" y="539496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223357"/>
          </a:solidFill>
        </p:spPr>
      </p:sp>
      <p:sp>
        <p:nvSpPr>
          <p:cNvPr id="1048616" name="Shape 28"/>
          <p:cNvSpPr/>
          <p:nvPr/>
        </p:nvSpPr>
        <p:spPr>
          <a:xfrm>
            <a:off x="6492240" y="5577840"/>
            <a:ext cx="502920" cy="502920"/>
          </a:xfrm>
          <a:prstGeom prst="ellipse"/>
          <a:solidFill>
            <a:srgbClr val="D64545"/>
          </a:solidFill>
        </p:spPr>
      </p:sp>
      <p:pic>
        <p:nvPicPr>
          <p:cNvPr id="2097164" name="Image 11" descr="icons/alert_white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6620256" y="5705856"/>
            <a:ext cx="246888" cy="246888"/>
          </a:xfrm>
          <a:prstGeom prst="rect"/>
        </p:spPr>
      </p:pic>
      <p:sp>
        <p:nvSpPr>
          <p:cNvPr id="1048617" name="Text 29"/>
          <p:cNvSpPr/>
          <p:nvPr/>
        </p:nvSpPr>
        <p:spPr>
          <a:xfrm>
            <a:off x="7178040" y="5394960"/>
            <a:ext cx="3977640" cy="8686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/ Account Compromise</a:t>
            </a:r>
            <a:endParaRPr dirty="0" sz="1350" lang="en-US"/>
          </a:p>
        </p:txBody>
      </p:sp>
      <p:sp>
        <p:nvSpPr>
          <p:cNvPr id="1048618" name="Text 30"/>
          <p:cNvSpPr/>
          <p:nvPr/>
        </p:nvSpPr>
        <p:spPr>
          <a:xfrm>
            <a:off x="11643055" y="644652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ext 0"/>
          <p:cNvSpPr/>
          <p:nvPr/>
        </p:nvSpPr>
        <p:spPr>
          <a:xfrm>
            <a:off x="548640" y="320040"/>
            <a:ext cx="914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E0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dirty="0" sz="1600" lang="en-US"/>
          </a:p>
        </p:txBody>
      </p:sp>
      <p:sp>
        <p:nvSpPr>
          <p:cNvPr id="1048623" name="Text 1"/>
          <p:cNvSpPr/>
          <p:nvPr/>
        </p:nvSpPr>
        <p:spPr>
          <a:xfrm>
            <a:off x="548640" y="594360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Phishing Works</a:t>
            </a:r>
            <a:endParaRPr dirty="0" sz="3200" lang="en-US"/>
          </a:p>
        </p:txBody>
      </p:sp>
      <p:sp>
        <p:nvSpPr>
          <p:cNvPr id="1048624" name="Shape 2"/>
          <p:cNvSpPr/>
          <p:nvPr/>
        </p:nvSpPr>
        <p:spPr>
          <a:xfrm>
            <a:off x="5486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25" name="Shape 3"/>
          <p:cNvSpPr/>
          <p:nvPr/>
        </p:nvSpPr>
        <p:spPr>
          <a:xfrm>
            <a:off x="777240" y="1783080"/>
            <a:ext cx="502920" cy="502920"/>
          </a:xfrm>
          <a:prstGeom prst="ellipse"/>
          <a:solidFill>
            <a:srgbClr val="1B2A4A"/>
          </a:solidFill>
        </p:spPr>
      </p:sp>
      <p:sp>
        <p:nvSpPr>
          <p:cNvPr id="1048626" name="Text 4"/>
          <p:cNvSpPr/>
          <p:nvPr/>
        </p:nvSpPr>
        <p:spPr>
          <a:xfrm>
            <a:off x="777240" y="178308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2000" lang="en-US"/>
          </a:p>
        </p:txBody>
      </p:sp>
      <p:pic>
        <p:nvPicPr>
          <p:cNvPr id="2097165" name="Image 0" descr="icons/target_navy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468880" y="1783080"/>
            <a:ext cx="411480" cy="411480"/>
          </a:xfrm>
          <a:prstGeom prst="rect"/>
        </p:spPr>
      </p:pic>
      <p:sp>
        <p:nvSpPr>
          <p:cNvPr id="1048627" name="Text 5"/>
          <p:cNvSpPr/>
          <p:nvPr/>
        </p:nvSpPr>
        <p:spPr>
          <a:xfrm>
            <a:off x="777240" y="2468880"/>
            <a:ext cx="214884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3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Creates a Convincing Fake Message</a:t>
            </a:r>
            <a:endParaRPr dirty="0" sz="1350" lang="en-US"/>
          </a:p>
        </p:txBody>
      </p:sp>
      <p:sp>
        <p:nvSpPr>
          <p:cNvPr id="1048628" name="Text 6"/>
          <p:cNvSpPr/>
          <p:nvPr/>
        </p:nvSpPr>
        <p:spPr>
          <a:xfrm>
            <a:off x="777240" y="3474720"/>
            <a:ext cx="2148840" cy="7315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look like it comes from a trusted source.</a:t>
            </a:r>
            <a:endParaRPr dirty="0" sz="1150" lang="en-US"/>
          </a:p>
        </p:txBody>
      </p:sp>
      <p:pic>
        <p:nvPicPr>
          <p:cNvPr id="2097166" name="Image 1" descr="icons/arrowright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172968" y="2793492"/>
            <a:ext cx="201168" cy="201168"/>
          </a:xfrm>
          <a:prstGeom prst="rect"/>
        </p:spPr>
      </p:pic>
      <p:sp>
        <p:nvSpPr>
          <p:cNvPr id="1048629" name="Shape 7"/>
          <p:cNvSpPr/>
          <p:nvPr/>
        </p:nvSpPr>
        <p:spPr>
          <a:xfrm>
            <a:off x="338328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30" name="Shape 8"/>
          <p:cNvSpPr/>
          <p:nvPr/>
        </p:nvSpPr>
        <p:spPr>
          <a:xfrm>
            <a:off x="3611880" y="1783080"/>
            <a:ext cx="502920" cy="502920"/>
          </a:xfrm>
          <a:prstGeom prst="ellipse"/>
          <a:solidFill>
            <a:srgbClr val="1B2A4A"/>
          </a:solidFill>
        </p:spPr>
      </p:sp>
      <p:sp>
        <p:nvSpPr>
          <p:cNvPr id="1048631" name="Text 9"/>
          <p:cNvSpPr/>
          <p:nvPr/>
        </p:nvSpPr>
        <p:spPr>
          <a:xfrm>
            <a:off x="3611880" y="178308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2000" lang="en-US"/>
          </a:p>
        </p:txBody>
      </p:sp>
      <p:pic>
        <p:nvPicPr>
          <p:cNvPr id="2097167" name="Image 2" descr="icons/mail_navy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303520" y="1783080"/>
            <a:ext cx="411480" cy="411480"/>
          </a:xfrm>
          <a:prstGeom prst="rect"/>
        </p:spPr>
      </p:pic>
      <p:sp>
        <p:nvSpPr>
          <p:cNvPr id="1048632" name="Text 10"/>
          <p:cNvSpPr/>
          <p:nvPr/>
        </p:nvSpPr>
        <p:spPr>
          <a:xfrm>
            <a:off x="3611880" y="2468880"/>
            <a:ext cx="214884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3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Receives the Email / Message</a:t>
            </a:r>
            <a:endParaRPr dirty="0" sz="1350" lang="en-US"/>
          </a:p>
        </p:txBody>
      </p:sp>
      <p:sp>
        <p:nvSpPr>
          <p:cNvPr id="1048633" name="Text 11"/>
          <p:cNvSpPr/>
          <p:nvPr/>
        </p:nvSpPr>
        <p:spPr>
          <a:xfrm>
            <a:off x="3611880" y="3474720"/>
            <a:ext cx="2148840" cy="7315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arrives in an inbox or as a text message.</a:t>
            </a:r>
            <a:endParaRPr dirty="0" sz="1150" lang="en-US"/>
          </a:p>
        </p:txBody>
      </p:sp>
      <p:pic>
        <p:nvPicPr>
          <p:cNvPr id="2097168" name="Image 3" descr="icons/arrowright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007608" y="2793492"/>
            <a:ext cx="201168" cy="201168"/>
          </a:xfrm>
          <a:prstGeom prst="rect"/>
        </p:spPr>
      </p:pic>
      <p:sp>
        <p:nvSpPr>
          <p:cNvPr id="1048634" name="Shape 12"/>
          <p:cNvSpPr/>
          <p:nvPr/>
        </p:nvSpPr>
        <p:spPr>
          <a:xfrm>
            <a:off x="62179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35" name="Shape 13"/>
          <p:cNvSpPr/>
          <p:nvPr/>
        </p:nvSpPr>
        <p:spPr>
          <a:xfrm>
            <a:off x="6446520" y="1783080"/>
            <a:ext cx="502920" cy="502920"/>
          </a:xfrm>
          <a:prstGeom prst="ellipse"/>
          <a:solidFill>
            <a:srgbClr val="1B2A4A"/>
          </a:solidFill>
        </p:spPr>
      </p:sp>
      <p:sp>
        <p:nvSpPr>
          <p:cNvPr id="1048636" name="Text 14"/>
          <p:cNvSpPr/>
          <p:nvPr/>
        </p:nvSpPr>
        <p:spPr>
          <a:xfrm>
            <a:off x="6446520" y="178308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2000" lang="en-US"/>
          </a:p>
        </p:txBody>
      </p:sp>
      <p:pic>
        <p:nvPicPr>
          <p:cNvPr id="2097169" name="Image 4" descr="icons/link_navy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138160" y="1783080"/>
            <a:ext cx="411480" cy="411480"/>
          </a:xfrm>
          <a:prstGeom prst="rect"/>
        </p:spPr>
      </p:pic>
      <p:sp>
        <p:nvSpPr>
          <p:cNvPr id="1048637" name="Text 15"/>
          <p:cNvSpPr/>
          <p:nvPr/>
        </p:nvSpPr>
        <p:spPr>
          <a:xfrm>
            <a:off x="6446520" y="2468880"/>
            <a:ext cx="214884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3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a Link or Provides Information</a:t>
            </a:r>
            <a:endParaRPr dirty="0" sz="1350" lang="en-US"/>
          </a:p>
        </p:txBody>
      </p:sp>
      <p:sp>
        <p:nvSpPr>
          <p:cNvPr id="1048638" name="Text 16"/>
          <p:cNvSpPr/>
          <p:nvPr/>
        </p:nvSpPr>
        <p:spPr>
          <a:xfrm>
            <a:off x="6446520" y="3474720"/>
            <a:ext cx="2148840" cy="7315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under pressure or urgency.</a:t>
            </a:r>
            <a:endParaRPr dirty="0" sz="1150" lang="en-US"/>
          </a:p>
        </p:txBody>
      </p:sp>
      <p:pic>
        <p:nvPicPr>
          <p:cNvPr id="2097170" name="Image 5" descr="icons/arrowright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842248" y="2793492"/>
            <a:ext cx="201168" cy="201168"/>
          </a:xfrm>
          <a:prstGeom prst="rect"/>
        </p:spPr>
      </p:pic>
      <p:sp>
        <p:nvSpPr>
          <p:cNvPr id="1048639" name="Shape 17"/>
          <p:cNvSpPr/>
          <p:nvPr/>
        </p:nvSpPr>
        <p:spPr>
          <a:xfrm>
            <a:off x="905256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40" name="Shape 18"/>
          <p:cNvSpPr/>
          <p:nvPr/>
        </p:nvSpPr>
        <p:spPr>
          <a:xfrm>
            <a:off x="9281160" y="1783080"/>
            <a:ext cx="502920" cy="502920"/>
          </a:xfrm>
          <a:prstGeom prst="ellipse"/>
          <a:solidFill>
            <a:srgbClr val="D64545"/>
          </a:solidFill>
        </p:spPr>
      </p:sp>
      <p:sp>
        <p:nvSpPr>
          <p:cNvPr id="1048641" name="Text 19"/>
          <p:cNvSpPr/>
          <p:nvPr/>
        </p:nvSpPr>
        <p:spPr>
          <a:xfrm>
            <a:off x="9281160" y="178308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2000" lang="en-US"/>
          </a:p>
        </p:txBody>
      </p:sp>
      <p:pic>
        <p:nvPicPr>
          <p:cNvPr id="2097171" name="Image 6" descr="icons/lock_whit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0972800" y="1783080"/>
            <a:ext cx="411480" cy="411480"/>
          </a:xfrm>
          <a:prstGeom prst="rect"/>
        </p:spPr>
      </p:pic>
      <p:sp>
        <p:nvSpPr>
          <p:cNvPr id="1048642" name="Text 20"/>
          <p:cNvSpPr/>
          <p:nvPr/>
        </p:nvSpPr>
        <p:spPr>
          <a:xfrm>
            <a:off x="9281160" y="2468880"/>
            <a:ext cx="214884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Gains Access to the Submitted Information</a:t>
            </a:r>
            <a:endParaRPr dirty="0" sz="1350" lang="en-US"/>
          </a:p>
        </p:txBody>
      </p:sp>
      <p:sp>
        <p:nvSpPr>
          <p:cNvPr id="1048643" name="Text 21"/>
          <p:cNvSpPr/>
          <p:nvPr/>
        </p:nvSpPr>
        <p:spPr>
          <a:xfrm>
            <a:off x="9281160" y="3474720"/>
            <a:ext cx="2148840" cy="7315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50" lang="en-US">
                <a:solidFill>
                  <a:srgbClr val="CB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or data are stolen or misused.</a:t>
            </a:r>
            <a:endParaRPr dirty="0" sz="1150" lang="en-US"/>
          </a:p>
        </p:txBody>
      </p:sp>
      <p:sp>
        <p:nvSpPr>
          <p:cNvPr id="1048644" name="Shape 2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1414"/>
          </a:solidFill>
          <a:ln w="12700">
            <a:solidFill>
              <a:srgbClr val="D64545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45" name="Shape 23"/>
          <p:cNvSpPr/>
          <p:nvPr/>
        </p:nvSpPr>
        <p:spPr>
          <a:xfrm>
            <a:off x="822960" y="4892040"/>
            <a:ext cx="502920" cy="502920"/>
          </a:xfrm>
          <a:prstGeom prst="ellipse"/>
          <a:solidFill>
            <a:srgbClr val="D64545"/>
          </a:solidFill>
        </p:spPr>
      </p:sp>
      <p:pic>
        <p:nvPicPr>
          <p:cNvPr id="2097172" name="Image 7" descr="icons/alert_whit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941832" y="5010912"/>
            <a:ext cx="265176" cy="265176"/>
          </a:xfrm>
          <a:prstGeom prst="rect"/>
        </p:spPr>
      </p:pic>
      <p:sp>
        <p:nvSpPr>
          <p:cNvPr id="1048646" name="Text 24"/>
          <p:cNvSpPr/>
          <p:nvPr/>
        </p:nvSpPr>
        <p:spPr>
          <a:xfrm>
            <a:off x="1508760" y="4800600"/>
            <a:ext cx="78638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EXAMPLE:  </a:t>
            </a:r>
            <a:r>
              <a:rPr dirty="0" sz="1350" i="1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today. Verify your account immediately."</a:t>
            </a:r>
            <a:endParaRPr dirty="0" sz="1350" lang="en-US"/>
          </a:p>
        </p:txBody>
      </p:sp>
      <p:sp>
        <p:nvSpPr>
          <p:cNvPr id="1048647" name="Text 25"/>
          <p:cNvSpPr/>
          <p:nvPr/>
        </p:nvSpPr>
        <p:spPr>
          <a:xfrm>
            <a:off x="1508760" y="5257800"/>
            <a:ext cx="969264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250" lang="en-US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r>
              <a:rPr dirty="0" sz="1250" lang="en-US">
                <a:solidFill>
                  <a:srgbClr val="E8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major warning sign — attackers create false urgency so victims act before thinking.</a:t>
            </a:r>
            <a:endParaRPr dirty="0" sz="1250" lang="en-US"/>
          </a:p>
        </p:txBody>
      </p:sp>
      <p:sp>
        <p:nvSpPr>
          <p:cNvPr id="1048648" name="Text 26"/>
          <p:cNvSpPr/>
          <p:nvPr/>
        </p:nvSpPr>
        <p:spPr>
          <a:xfrm>
            <a:off x="11643055" y="644652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0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ext 0"/>
          <p:cNvSpPr/>
          <p:nvPr/>
        </p:nvSpPr>
        <p:spPr>
          <a:xfrm>
            <a:off x="548640" y="320040"/>
            <a:ext cx="914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E0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dirty="0" sz="1600" lang="en-US"/>
          </a:p>
        </p:txBody>
      </p:sp>
      <p:sp>
        <p:nvSpPr>
          <p:cNvPr id="1048653" name="Text 1"/>
          <p:cNvSpPr/>
          <p:nvPr/>
        </p:nvSpPr>
        <p:spPr>
          <a:xfrm>
            <a:off x="548640" y="59436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Phishing Techniques</a:t>
            </a:r>
            <a:endParaRPr dirty="0" sz="3200" lang="en-US"/>
          </a:p>
        </p:txBody>
      </p:sp>
      <p:sp>
        <p:nvSpPr>
          <p:cNvPr id="1048654" name="Shape 2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55" name="Shape 3"/>
          <p:cNvSpPr/>
          <p:nvPr/>
        </p:nvSpPr>
        <p:spPr>
          <a:xfrm>
            <a:off x="822960" y="1828800"/>
            <a:ext cx="594360" cy="594360"/>
          </a:xfrm>
          <a:prstGeom prst="ellipse"/>
          <a:solidFill>
            <a:srgbClr val="1B2A4A"/>
          </a:solidFill>
        </p:spPr>
      </p:sp>
      <p:pic>
        <p:nvPicPr>
          <p:cNvPr id="2097173" name="Image 0" descr="icons/mail_whi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408" y="1984248"/>
            <a:ext cx="283464" cy="283464"/>
          </a:xfrm>
          <a:prstGeom prst="rect"/>
        </p:spPr>
      </p:pic>
      <p:sp>
        <p:nvSpPr>
          <p:cNvPr id="1048656" name="Text 4"/>
          <p:cNvSpPr/>
          <p:nvPr/>
        </p:nvSpPr>
        <p:spPr>
          <a:xfrm>
            <a:off x="822960" y="2514600"/>
            <a:ext cx="301752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dirty="0" sz="1500" lang="en-US"/>
          </a:p>
        </p:txBody>
      </p:sp>
      <p:sp>
        <p:nvSpPr>
          <p:cNvPr id="1048657" name="Text 5"/>
          <p:cNvSpPr/>
          <p:nvPr/>
        </p:nvSpPr>
        <p:spPr>
          <a:xfrm>
            <a:off x="822960" y="2926080"/>
            <a:ext cx="301752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pretending to come from trusted organizations.</a:t>
            </a:r>
            <a:endParaRPr dirty="0" sz="1200" lang="en-US"/>
          </a:p>
        </p:txBody>
      </p:sp>
      <p:sp>
        <p:nvSpPr>
          <p:cNvPr id="1048658" name="Shape 6"/>
          <p:cNvSpPr/>
          <p:nvPr/>
        </p:nvSpPr>
        <p:spPr>
          <a:xfrm>
            <a:off x="434340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59" name="Shape 7"/>
          <p:cNvSpPr/>
          <p:nvPr/>
        </p:nvSpPr>
        <p:spPr>
          <a:xfrm>
            <a:off x="4617720" y="1828800"/>
            <a:ext cx="594360" cy="594360"/>
          </a:xfrm>
          <a:prstGeom prst="ellipse"/>
          <a:solidFill>
            <a:srgbClr val="1B2A4A"/>
          </a:solidFill>
        </p:spPr>
      </p:sp>
      <p:pic>
        <p:nvPicPr>
          <p:cNvPr id="2097174" name="Image 1" descr="icons/lock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773168" y="1984248"/>
            <a:ext cx="283464" cy="283464"/>
          </a:xfrm>
          <a:prstGeom prst="rect"/>
        </p:spPr>
      </p:pic>
      <p:sp>
        <p:nvSpPr>
          <p:cNvPr id="1048660" name="Text 8"/>
          <p:cNvSpPr/>
          <p:nvPr/>
        </p:nvSpPr>
        <p:spPr>
          <a:xfrm>
            <a:off x="4617720" y="2514600"/>
            <a:ext cx="301752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Pages</a:t>
            </a:r>
            <a:endParaRPr dirty="0" sz="1500" lang="en-US"/>
          </a:p>
        </p:txBody>
      </p:sp>
      <p:sp>
        <p:nvSpPr>
          <p:cNvPr id="1048661" name="Text 9"/>
          <p:cNvSpPr/>
          <p:nvPr/>
        </p:nvSpPr>
        <p:spPr>
          <a:xfrm>
            <a:off x="4617720" y="2926080"/>
            <a:ext cx="301752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designed to imitate legitimate login pages.</a:t>
            </a:r>
            <a:endParaRPr dirty="0" sz="1200" lang="en-US"/>
          </a:p>
        </p:txBody>
      </p:sp>
      <p:sp>
        <p:nvSpPr>
          <p:cNvPr id="1048662" name="Shape 10"/>
          <p:cNvSpPr/>
          <p:nvPr/>
        </p:nvSpPr>
        <p:spPr>
          <a:xfrm>
            <a:off x="813816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63" name="Shape 11"/>
          <p:cNvSpPr/>
          <p:nvPr/>
        </p:nvSpPr>
        <p:spPr>
          <a:xfrm>
            <a:off x="8412480" y="1828800"/>
            <a:ext cx="594360" cy="594360"/>
          </a:xfrm>
          <a:prstGeom prst="ellipse"/>
          <a:solidFill>
            <a:srgbClr val="1B2A4A"/>
          </a:solidFill>
        </p:spPr>
      </p:sp>
      <p:pic>
        <p:nvPicPr>
          <p:cNvPr id="2097175" name="Image 2" descr="icons/globe_whit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567928" y="1984248"/>
            <a:ext cx="283464" cy="283464"/>
          </a:xfrm>
          <a:prstGeom prst="rect"/>
        </p:spPr>
      </p:pic>
      <p:sp>
        <p:nvSpPr>
          <p:cNvPr id="1048664" name="Text 12"/>
          <p:cNvSpPr/>
          <p:nvPr/>
        </p:nvSpPr>
        <p:spPr>
          <a:xfrm>
            <a:off x="8412480" y="2514600"/>
            <a:ext cx="301752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Websites</a:t>
            </a:r>
            <a:endParaRPr dirty="0" sz="1500" lang="en-US"/>
          </a:p>
        </p:txBody>
      </p:sp>
      <p:sp>
        <p:nvSpPr>
          <p:cNvPr id="1048665" name="Text 13"/>
          <p:cNvSpPr/>
          <p:nvPr/>
        </p:nvSpPr>
        <p:spPr>
          <a:xfrm>
            <a:off x="8412480" y="2926080"/>
            <a:ext cx="301752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 that look like real, familiar services.</a:t>
            </a:r>
            <a:endParaRPr dirty="0" sz="1200" lang="en-US"/>
          </a:p>
        </p:txBody>
      </p:sp>
      <p:sp>
        <p:nvSpPr>
          <p:cNvPr id="1048666" name="Shape 14"/>
          <p:cNvSpPr/>
          <p:nvPr/>
        </p:nvSpPr>
        <p:spPr>
          <a:xfrm>
            <a:off x="2446020" y="3886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67" name="Shape 15"/>
          <p:cNvSpPr/>
          <p:nvPr/>
        </p:nvSpPr>
        <p:spPr>
          <a:xfrm>
            <a:off x="2720340" y="4160520"/>
            <a:ext cx="594360" cy="594360"/>
          </a:xfrm>
          <a:prstGeom prst="ellipse"/>
          <a:solidFill>
            <a:srgbClr val="1B2A4A"/>
          </a:solidFill>
        </p:spPr>
      </p:sp>
      <p:pic>
        <p:nvPicPr>
          <p:cNvPr id="2097176" name="Image 3" descr="icons/smartphone_whit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2875788" y="4315968"/>
            <a:ext cx="283464" cy="283464"/>
          </a:xfrm>
          <a:prstGeom prst="rect"/>
        </p:spPr>
      </p:pic>
      <p:sp>
        <p:nvSpPr>
          <p:cNvPr id="1048668" name="Text 16"/>
          <p:cNvSpPr/>
          <p:nvPr/>
        </p:nvSpPr>
        <p:spPr>
          <a:xfrm>
            <a:off x="2720340" y="4846320"/>
            <a:ext cx="301752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dirty="0" sz="1500" lang="en-US"/>
          </a:p>
        </p:txBody>
      </p:sp>
      <p:sp>
        <p:nvSpPr>
          <p:cNvPr id="1048669" name="Text 17"/>
          <p:cNvSpPr/>
          <p:nvPr/>
        </p:nvSpPr>
        <p:spPr>
          <a:xfrm>
            <a:off x="2720340" y="5257800"/>
            <a:ext cx="301752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carried out through SMS or text messages.</a:t>
            </a:r>
            <a:endParaRPr dirty="0" sz="1200" lang="en-US"/>
          </a:p>
        </p:txBody>
      </p:sp>
      <p:sp>
        <p:nvSpPr>
          <p:cNvPr id="1048670" name="Shape 18"/>
          <p:cNvSpPr/>
          <p:nvPr/>
        </p:nvSpPr>
        <p:spPr>
          <a:xfrm>
            <a:off x="6240780" y="3886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71" name="Shape 19"/>
          <p:cNvSpPr/>
          <p:nvPr/>
        </p:nvSpPr>
        <p:spPr>
          <a:xfrm>
            <a:off x="6515100" y="4160520"/>
            <a:ext cx="594360" cy="594360"/>
          </a:xfrm>
          <a:prstGeom prst="ellipse"/>
          <a:solidFill>
            <a:srgbClr val="1B2A4A"/>
          </a:solidFill>
        </p:spPr>
      </p:sp>
      <p:pic>
        <p:nvPicPr>
          <p:cNvPr id="2097177" name="Image 4" descr="icons/users_whit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670548" y="4315968"/>
            <a:ext cx="283464" cy="283464"/>
          </a:xfrm>
          <a:prstGeom prst="rect"/>
        </p:spPr>
      </p:pic>
      <p:sp>
        <p:nvSpPr>
          <p:cNvPr id="1048672" name="Text 20"/>
          <p:cNvSpPr/>
          <p:nvPr/>
        </p:nvSpPr>
        <p:spPr>
          <a:xfrm>
            <a:off x="6515100" y="4846320"/>
            <a:ext cx="301752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dirty="0" sz="1500" lang="en-US"/>
          </a:p>
        </p:txBody>
      </p:sp>
      <p:sp>
        <p:nvSpPr>
          <p:cNvPr id="1048673" name="Text 21"/>
          <p:cNvSpPr/>
          <p:nvPr/>
        </p:nvSpPr>
        <p:spPr>
          <a:xfrm>
            <a:off x="6515100" y="5257800"/>
            <a:ext cx="301752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people using trust, fear, urgency, or curiosity.</a:t>
            </a:r>
            <a:endParaRPr dirty="0" sz="1200" lang="en-US"/>
          </a:p>
        </p:txBody>
      </p:sp>
      <p:sp>
        <p:nvSpPr>
          <p:cNvPr id="1048674" name="Text 22"/>
          <p:cNvSpPr/>
          <p:nvPr/>
        </p:nvSpPr>
        <p:spPr>
          <a:xfrm>
            <a:off x="11643055" y="644652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0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ext 0"/>
          <p:cNvSpPr/>
          <p:nvPr/>
        </p:nvSpPr>
        <p:spPr>
          <a:xfrm>
            <a:off x="548640" y="320040"/>
            <a:ext cx="914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E0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dirty="0" sz="1600" lang="en-US"/>
          </a:p>
        </p:txBody>
      </p:sp>
      <p:sp>
        <p:nvSpPr>
          <p:cNvPr id="1048679" name="Text 1"/>
          <p:cNvSpPr/>
          <p:nvPr/>
        </p:nvSpPr>
        <p:spPr>
          <a:xfrm>
            <a:off x="548640" y="59436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a Phishing Message</a:t>
            </a:r>
            <a:endParaRPr dirty="0" sz="3000" lang="en-US"/>
          </a:p>
        </p:txBody>
      </p:sp>
      <p:sp>
        <p:nvSpPr>
          <p:cNvPr id="1048680" name="Shape 2"/>
          <p:cNvSpPr/>
          <p:nvPr/>
        </p:nvSpPr>
        <p:spPr>
          <a:xfrm>
            <a:off x="548640" y="150876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pic>
        <p:nvPicPr>
          <p:cNvPr id="2097178" name="Image 0" descr="icons/flag_r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22960" y="1737360"/>
            <a:ext cx="292608" cy="292608"/>
          </a:xfrm>
          <a:prstGeom prst="rect"/>
        </p:spPr>
      </p:pic>
      <p:sp>
        <p:nvSpPr>
          <p:cNvPr id="1048681" name="Text 3"/>
          <p:cNvSpPr/>
          <p:nvPr/>
        </p:nvSpPr>
        <p:spPr>
          <a:xfrm>
            <a:off x="1207008" y="1737360"/>
            <a:ext cx="4114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kern="0" lang="en-US" spc="5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CHECKLIST</a:t>
            </a:r>
            <a:endParaRPr dirty="0" sz="1500" lang="en-US"/>
          </a:p>
        </p:txBody>
      </p:sp>
      <p:pic>
        <p:nvPicPr>
          <p:cNvPr id="2097179" name="Image 1" descr="icons/x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8680" y="2258568"/>
            <a:ext cx="219456" cy="219456"/>
          </a:xfrm>
          <a:prstGeom prst="rect"/>
        </p:spPr>
      </p:pic>
      <p:sp>
        <p:nvSpPr>
          <p:cNvPr id="1048682" name="Text 4"/>
          <p:cNvSpPr/>
          <p:nvPr/>
        </p:nvSpPr>
        <p:spPr>
          <a:xfrm>
            <a:off x="1207008" y="2240280"/>
            <a:ext cx="420624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or suspicious sender</a:t>
            </a:r>
            <a:endParaRPr dirty="0" sz="1250" lang="en-US"/>
          </a:p>
        </p:txBody>
      </p:sp>
      <p:pic>
        <p:nvPicPr>
          <p:cNvPr id="2097180" name="Image 2" descr="icons/x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8680" y="2743200"/>
            <a:ext cx="219456" cy="219456"/>
          </a:xfrm>
          <a:prstGeom prst="rect"/>
        </p:spPr>
      </p:pic>
      <p:sp>
        <p:nvSpPr>
          <p:cNvPr id="1048683" name="Text 5"/>
          <p:cNvSpPr/>
          <p:nvPr/>
        </p:nvSpPr>
        <p:spPr>
          <a:xfrm>
            <a:off x="1207008" y="2724912"/>
            <a:ext cx="420624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dirty="0" sz="1250" lang="en-US"/>
          </a:p>
        </p:txBody>
      </p:sp>
      <p:pic>
        <p:nvPicPr>
          <p:cNvPr id="2097181" name="Image 3" descr="icons/x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8680" y="3227832"/>
            <a:ext cx="219456" cy="219456"/>
          </a:xfrm>
          <a:prstGeom prst="rect"/>
        </p:spPr>
      </p:pic>
      <p:sp>
        <p:nvSpPr>
          <p:cNvPr id="1048684" name="Text 6"/>
          <p:cNvSpPr/>
          <p:nvPr/>
        </p:nvSpPr>
        <p:spPr>
          <a:xfrm>
            <a:off x="1207008" y="3209544"/>
            <a:ext cx="420624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 / domain</a:t>
            </a:r>
            <a:endParaRPr dirty="0" sz="1250" lang="en-US"/>
          </a:p>
        </p:txBody>
      </p:sp>
      <p:pic>
        <p:nvPicPr>
          <p:cNvPr id="2097182" name="Image 4" descr="icons/x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8680" y="3712464"/>
            <a:ext cx="219456" cy="219456"/>
          </a:xfrm>
          <a:prstGeom prst="rect"/>
        </p:spPr>
      </p:pic>
      <p:sp>
        <p:nvSpPr>
          <p:cNvPr id="1048685" name="Text 7"/>
          <p:cNvSpPr/>
          <p:nvPr/>
        </p:nvSpPr>
        <p:spPr>
          <a:xfrm>
            <a:off x="1207008" y="3694176"/>
            <a:ext cx="420624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</a:t>
            </a:r>
            <a:endParaRPr dirty="0" sz="1250" lang="en-US"/>
          </a:p>
        </p:txBody>
      </p:sp>
      <p:pic>
        <p:nvPicPr>
          <p:cNvPr id="2097183" name="Image 5" descr="icons/x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8680" y="4197096"/>
            <a:ext cx="219456" cy="219456"/>
          </a:xfrm>
          <a:prstGeom prst="rect"/>
        </p:spPr>
      </p:pic>
      <p:sp>
        <p:nvSpPr>
          <p:cNvPr id="1048686" name="Text 8"/>
          <p:cNvSpPr/>
          <p:nvPr/>
        </p:nvSpPr>
        <p:spPr>
          <a:xfrm>
            <a:off x="1207008" y="4178808"/>
            <a:ext cx="420624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password, OTP, PIN, or financial info</a:t>
            </a:r>
            <a:endParaRPr dirty="0" sz="1250" lang="en-US"/>
          </a:p>
        </p:txBody>
      </p:sp>
      <p:pic>
        <p:nvPicPr>
          <p:cNvPr id="2097184" name="Image 6" descr="icons/x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8680" y="4681728"/>
            <a:ext cx="219456" cy="219456"/>
          </a:xfrm>
          <a:prstGeom prst="rect"/>
        </p:spPr>
      </p:pic>
      <p:sp>
        <p:nvSpPr>
          <p:cNvPr id="1048687" name="Text 9"/>
          <p:cNvSpPr/>
          <p:nvPr/>
        </p:nvSpPr>
        <p:spPr>
          <a:xfrm>
            <a:off x="1207008" y="4663440"/>
            <a:ext cx="420624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/ grammar inconsistencies</a:t>
            </a:r>
            <a:endParaRPr dirty="0" sz="1250" lang="en-US"/>
          </a:p>
        </p:txBody>
      </p:sp>
      <p:pic>
        <p:nvPicPr>
          <p:cNvPr id="2097185" name="Image 7" descr="icons/x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8680" y="5166360"/>
            <a:ext cx="219456" cy="219456"/>
          </a:xfrm>
          <a:prstGeom prst="rect"/>
        </p:spPr>
      </p:pic>
      <p:sp>
        <p:nvSpPr>
          <p:cNvPr id="1048688" name="Text 10"/>
          <p:cNvSpPr/>
          <p:nvPr/>
        </p:nvSpPr>
        <p:spPr>
          <a:xfrm>
            <a:off x="1207008" y="5148072"/>
            <a:ext cx="420624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5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that seem too good to be true</a:t>
            </a:r>
            <a:endParaRPr dirty="0" sz="1250" lang="en-US"/>
          </a:p>
        </p:txBody>
      </p:sp>
      <p:sp>
        <p:nvSpPr>
          <p:cNvPr id="1048689" name="Shape 11"/>
          <p:cNvSpPr/>
          <p:nvPr/>
        </p:nvSpPr>
        <p:spPr>
          <a:xfrm>
            <a:off x="5852160" y="1508760"/>
            <a:ext cx="5760720" cy="452628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690" name="Text 12"/>
          <p:cNvSpPr/>
          <p:nvPr/>
        </p:nvSpPr>
        <p:spPr>
          <a:xfrm>
            <a:off x="6172200" y="1691640"/>
            <a:ext cx="4572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10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EXAMPLE EMAIL</a:t>
            </a:r>
            <a:endParaRPr dirty="0" sz="1300" lang="en-US"/>
          </a:p>
        </p:txBody>
      </p:sp>
      <p:sp>
        <p:nvSpPr>
          <p:cNvPr id="1048691" name="Shape 13"/>
          <p:cNvSpPr/>
          <p:nvPr/>
        </p:nvSpPr>
        <p:spPr>
          <a:xfrm>
            <a:off x="6172200" y="210312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</p:spPr>
      </p:sp>
      <p:sp>
        <p:nvSpPr>
          <p:cNvPr id="1048692" name="Text 14"/>
          <p:cNvSpPr/>
          <p:nvPr/>
        </p:nvSpPr>
        <p:spPr>
          <a:xfrm>
            <a:off x="6355080" y="2240280"/>
            <a:ext cx="4754880" cy="320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b="1" dirty="0" sz="1100" lang="en-US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security-alert@example-security-check.com</a:t>
            </a:r>
            <a:endParaRPr dirty="0" sz="1100" lang="en-US"/>
          </a:p>
        </p:txBody>
      </p:sp>
      <p:sp>
        <p:nvSpPr>
          <p:cNvPr id="1048693" name="Shape 15"/>
          <p:cNvSpPr/>
          <p:nvPr/>
        </p:nvSpPr>
        <p:spPr>
          <a:xfrm>
            <a:off x="6355080" y="2578608"/>
            <a:ext cx="1965960" cy="274320"/>
          </a:xfrm>
          <a:prstGeom prst="roundRect">
            <a:avLst>
              <a:gd name="adj" fmla="val 20000"/>
            </a:avLst>
          </a:prstGeom>
          <a:solidFill>
            <a:srgbClr val="FCE8E8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1048694" name="Text 16"/>
          <p:cNvSpPr/>
          <p:nvPr/>
        </p:nvSpPr>
        <p:spPr>
          <a:xfrm>
            <a:off x="6355080" y="2578608"/>
            <a:ext cx="19659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800" lang="en-US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DOMAIN</a:t>
            </a:r>
            <a:endParaRPr dirty="0" sz="800" lang="en-US"/>
          </a:p>
        </p:txBody>
      </p:sp>
      <p:sp>
        <p:nvSpPr>
          <p:cNvPr id="1048695" name="Text 17"/>
          <p:cNvSpPr/>
          <p:nvPr/>
        </p:nvSpPr>
        <p:spPr>
          <a:xfrm>
            <a:off x="6355080" y="2999232"/>
            <a:ext cx="475488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b="1" dirty="0" sz="1100" lang="en-US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URGENT! Your account will be deleted today!</a:t>
            </a:r>
            <a:endParaRPr dirty="0" sz="1100" lang="en-US"/>
          </a:p>
        </p:txBody>
      </p:sp>
      <p:sp>
        <p:nvSpPr>
          <p:cNvPr id="1048696" name="Shape 18"/>
          <p:cNvSpPr/>
          <p:nvPr/>
        </p:nvSpPr>
        <p:spPr>
          <a:xfrm>
            <a:off x="6355080" y="3364992"/>
            <a:ext cx="1965960" cy="274320"/>
          </a:xfrm>
          <a:prstGeom prst="roundRect">
            <a:avLst>
              <a:gd name="adj" fmla="val 20000"/>
            </a:avLst>
          </a:prstGeom>
          <a:solidFill>
            <a:srgbClr val="FCE8E8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1048697" name="Text 19"/>
          <p:cNvSpPr/>
          <p:nvPr/>
        </p:nvSpPr>
        <p:spPr>
          <a:xfrm>
            <a:off x="6355080" y="3364992"/>
            <a:ext cx="19659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800" lang="en-US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</a:t>
            </a:r>
            <a:endParaRPr dirty="0" sz="800" lang="en-US"/>
          </a:p>
        </p:txBody>
      </p:sp>
      <p:sp>
        <p:nvSpPr>
          <p:cNvPr id="1048698" name="Shape 20"/>
          <p:cNvSpPr/>
          <p:nvPr/>
        </p:nvSpPr>
        <p:spPr>
          <a:xfrm>
            <a:off x="6355080" y="3794760"/>
            <a:ext cx="4754880" cy="0"/>
          </a:xfrm>
          <a:prstGeom prst="line"/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48699" name="Text 21"/>
          <p:cNvSpPr/>
          <p:nvPr/>
        </p:nvSpPr>
        <p:spPr>
          <a:xfrm>
            <a:off x="6355080" y="3886200"/>
            <a:ext cx="475488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i="1" lang="en-US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"Click here immediately to verify your account."</a:t>
            </a:r>
            <a:endParaRPr dirty="0" sz="1200" lang="en-US"/>
          </a:p>
        </p:txBody>
      </p:sp>
      <p:sp>
        <p:nvSpPr>
          <p:cNvPr id="1048700" name="Shape 22"/>
          <p:cNvSpPr/>
          <p:nvPr/>
        </p:nvSpPr>
        <p:spPr>
          <a:xfrm>
            <a:off x="6355080" y="425196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FCE8E8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1048701" name="Text 23"/>
          <p:cNvSpPr/>
          <p:nvPr/>
        </p:nvSpPr>
        <p:spPr>
          <a:xfrm>
            <a:off x="6355080" y="4251960"/>
            <a:ext cx="21945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800" lang="en-US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CLICK</a:t>
            </a:r>
            <a:endParaRPr dirty="0" sz="800" lang="en-US"/>
          </a:p>
        </p:txBody>
      </p:sp>
      <p:sp>
        <p:nvSpPr>
          <p:cNvPr id="1048702" name="Text 24"/>
          <p:cNvSpPr/>
          <p:nvPr/>
        </p:nvSpPr>
        <p:spPr>
          <a:xfrm>
            <a:off x="6172200" y="4892040"/>
            <a:ext cx="512064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200" lang="en-US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scam:  </a:t>
            </a:r>
            <a:r>
              <a:rPr dirty="0" sz="1200" lang="en-US">
                <a:solidFill>
                  <a:srgbClr val="D8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does not match the real organization, and the urgent tone is designed to make you act before you think.</a:t>
            </a:r>
            <a:endParaRPr dirty="0" sz="1200" lang="en-US"/>
          </a:p>
        </p:txBody>
      </p:sp>
      <p:sp>
        <p:nvSpPr>
          <p:cNvPr id="1048703" name="Text 25"/>
          <p:cNvSpPr/>
          <p:nvPr/>
        </p:nvSpPr>
        <p:spPr>
          <a:xfrm>
            <a:off x="11643055" y="644652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0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ext 0"/>
          <p:cNvSpPr/>
          <p:nvPr/>
        </p:nvSpPr>
        <p:spPr>
          <a:xfrm>
            <a:off x="548640" y="320040"/>
            <a:ext cx="914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E0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dirty="0" sz="1600" lang="en-US"/>
          </a:p>
        </p:txBody>
      </p:sp>
      <p:sp>
        <p:nvSpPr>
          <p:cNvPr id="1048708" name="Text 1"/>
          <p:cNvSpPr/>
          <p:nvPr/>
        </p:nvSpPr>
        <p:spPr>
          <a:xfrm>
            <a:off x="548640" y="59436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Login Page &amp; Website Check</a:t>
            </a:r>
            <a:endParaRPr dirty="0" sz="3000" lang="en-US"/>
          </a:p>
        </p:txBody>
      </p:sp>
      <p:sp>
        <p:nvSpPr>
          <p:cNvPr id="1048709" name="Shape 2"/>
          <p:cNvSpPr/>
          <p:nvPr/>
        </p:nvSpPr>
        <p:spPr>
          <a:xfrm>
            <a:off x="548640" y="150876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pic>
        <p:nvPicPr>
          <p:cNvPr id="2097186" name="Image 0" descr="icons/check_gree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22960" y="1764792"/>
            <a:ext cx="365760" cy="365760"/>
          </a:xfrm>
          <a:prstGeom prst="rect"/>
        </p:spPr>
      </p:pic>
      <p:sp>
        <p:nvSpPr>
          <p:cNvPr id="1048710" name="Text 3"/>
          <p:cNvSpPr/>
          <p:nvPr/>
        </p:nvSpPr>
        <p:spPr>
          <a:xfrm>
            <a:off x="1280160" y="1783080"/>
            <a:ext cx="4114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50" lang="en-US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LEGITIMATE-LOOKING SITE</a:t>
            </a:r>
            <a:endParaRPr dirty="0" sz="1450" lang="en-US"/>
          </a:p>
        </p:txBody>
      </p:sp>
      <p:sp>
        <p:nvSpPr>
          <p:cNvPr id="1048711" name="Shape 4"/>
          <p:cNvSpPr/>
          <p:nvPr/>
        </p:nvSpPr>
        <p:spPr>
          <a:xfrm>
            <a:off x="868680" y="2404872"/>
            <a:ext cx="201168" cy="201168"/>
          </a:xfrm>
          <a:prstGeom prst="ellipse"/>
          <a:solidFill>
            <a:srgbClr val="2E8B57"/>
          </a:solidFill>
        </p:spPr>
      </p:sp>
      <p:sp>
        <p:nvSpPr>
          <p:cNvPr id="1048712" name="Text 5"/>
          <p:cNvSpPr/>
          <p:nvPr/>
        </p:nvSpPr>
        <p:spPr>
          <a:xfrm>
            <a:off x="1170432" y="2377440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official, known domain</a:t>
            </a:r>
            <a:endParaRPr dirty="0" sz="1200" lang="en-US"/>
          </a:p>
        </p:txBody>
      </p:sp>
      <p:sp>
        <p:nvSpPr>
          <p:cNvPr id="1048713" name="Shape 6"/>
          <p:cNvSpPr/>
          <p:nvPr/>
        </p:nvSpPr>
        <p:spPr>
          <a:xfrm>
            <a:off x="868680" y="2935224"/>
            <a:ext cx="201168" cy="201168"/>
          </a:xfrm>
          <a:prstGeom prst="ellipse"/>
          <a:solidFill>
            <a:srgbClr val="2E8B57"/>
          </a:solidFill>
        </p:spPr>
      </p:sp>
      <p:sp>
        <p:nvSpPr>
          <p:cNvPr id="1048714" name="Text 7"/>
          <p:cNvSpPr/>
          <p:nvPr/>
        </p:nvSpPr>
        <p:spPr>
          <a:xfrm>
            <a:off x="1170432" y="2907792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HTTPS padlock and certificate</a:t>
            </a:r>
            <a:endParaRPr dirty="0" sz="1200" lang="en-US"/>
          </a:p>
        </p:txBody>
      </p:sp>
      <p:sp>
        <p:nvSpPr>
          <p:cNvPr id="1048715" name="Shape 8"/>
          <p:cNvSpPr/>
          <p:nvPr/>
        </p:nvSpPr>
        <p:spPr>
          <a:xfrm>
            <a:off x="868680" y="3465576"/>
            <a:ext cx="201168" cy="201168"/>
          </a:xfrm>
          <a:prstGeom prst="ellipse"/>
          <a:solidFill>
            <a:srgbClr val="2E8B57"/>
          </a:solidFill>
        </p:spPr>
      </p:sp>
      <p:sp>
        <p:nvSpPr>
          <p:cNvPr id="1048716" name="Text 9"/>
          <p:cNvSpPr/>
          <p:nvPr/>
        </p:nvSpPr>
        <p:spPr>
          <a:xfrm>
            <a:off x="1170432" y="3438144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typed manually or from bookmark</a:t>
            </a:r>
            <a:endParaRPr dirty="0" sz="1200" lang="en-US"/>
          </a:p>
        </p:txBody>
      </p:sp>
      <p:sp>
        <p:nvSpPr>
          <p:cNvPr id="1048717" name="Shape 10"/>
          <p:cNvSpPr/>
          <p:nvPr/>
        </p:nvSpPr>
        <p:spPr>
          <a:xfrm>
            <a:off x="868680" y="3995928"/>
            <a:ext cx="201168" cy="201168"/>
          </a:xfrm>
          <a:prstGeom prst="ellipse"/>
          <a:solidFill>
            <a:srgbClr val="2E8B57"/>
          </a:solidFill>
        </p:spPr>
      </p:sp>
      <p:sp>
        <p:nvSpPr>
          <p:cNvPr id="1048718" name="Text 11"/>
          <p:cNvSpPr/>
          <p:nvPr/>
        </p:nvSpPr>
        <p:spPr>
          <a:xfrm>
            <a:off x="1170432" y="3968496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unexpected redirects</a:t>
            </a:r>
            <a:endParaRPr dirty="0" sz="1200" lang="en-US"/>
          </a:p>
        </p:txBody>
      </p:sp>
      <p:sp>
        <p:nvSpPr>
          <p:cNvPr id="1048719" name="Shape 12"/>
          <p:cNvSpPr/>
          <p:nvPr/>
        </p:nvSpPr>
        <p:spPr>
          <a:xfrm>
            <a:off x="868680" y="4526280"/>
            <a:ext cx="201168" cy="201168"/>
          </a:xfrm>
          <a:prstGeom prst="ellipse"/>
          <a:solidFill>
            <a:srgbClr val="2E8B57"/>
          </a:solidFill>
        </p:spPr>
      </p:sp>
      <p:sp>
        <p:nvSpPr>
          <p:cNvPr id="1048720" name="Text 13"/>
          <p:cNvSpPr/>
          <p:nvPr/>
        </p:nvSpPr>
        <p:spPr>
          <a:xfrm>
            <a:off x="1170432" y="4498848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spelling, branding, and design</a:t>
            </a:r>
            <a:endParaRPr dirty="0" sz="1200" lang="en-US"/>
          </a:p>
        </p:txBody>
      </p:sp>
      <p:sp>
        <p:nvSpPr>
          <p:cNvPr id="1048721" name="Shape 14"/>
          <p:cNvSpPr/>
          <p:nvPr/>
        </p:nvSpPr>
        <p:spPr>
          <a:xfrm>
            <a:off x="5943600" y="150876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4545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pic>
        <p:nvPicPr>
          <p:cNvPr id="2097187" name="Image 1" descr="icons/x_r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17920" y="1764792"/>
            <a:ext cx="365760" cy="365760"/>
          </a:xfrm>
          <a:prstGeom prst="rect"/>
        </p:spPr>
      </p:pic>
      <p:sp>
        <p:nvSpPr>
          <p:cNvPr id="1048722" name="Text 15"/>
          <p:cNvSpPr/>
          <p:nvPr/>
        </p:nvSpPr>
        <p:spPr>
          <a:xfrm>
            <a:off x="6675120" y="1783080"/>
            <a:ext cx="4114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50" lang="en-US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SITE</a:t>
            </a:r>
            <a:endParaRPr dirty="0" sz="1450" lang="en-US"/>
          </a:p>
        </p:txBody>
      </p:sp>
      <p:sp>
        <p:nvSpPr>
          <p:cNvPr id="1048723" name="Shape 16"/>
          <p:cNvSpPr/>
          <p:nvPr/>
        </p:nvSpPr>
        <p:spPr>
          <a:xfrm>
            <a:off x="6263640" y="2404872"/>
            <a:ext cx="201168" cy="201168"/>
          </a:xfrm>
          <a:prstGeom prst="ellipse"/>
          <a:solidFill>
            <a:srgbClr val="D64545"/>
          </a:solidFill>
        </p:spPr>
      </p:sp>
      <p:sp>
        <p:nvSpPr>
          <p:cNvPr id="1048724" name="Text 17"/>
          <p:cNvSpPr/>
          <p:nvPr/>
        </p:nvSpPr>
        <p:spPr>
          <a:xfrm>
            <a:off x="6565392" y="2377440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looks similar but slightly altered</a:t>
            </a:r>
            <a:endParaRPr dirty="0" sz="1200" lang="en-US"/>
          </a:p>
        </p:txBody>
      </p:sp>
      <p:sp>
        <p:nvSpPr>
          <p:cNvPr id="1048725" name="Shape 18"/>
          <p:cNvSpPr/>
          <p:nvPr/>
        </p:nvSpPr>
        <p:spPr>
          <a:xfrm>
            <a:off x="6263640" y="2935224"/>
            <a:ext cx="201168" cy="201168"/>
          </a:xfrm>
          <a:prstGeom prst="ellipse"/>
          <a:solidFill>
            <a:srgbClr val="D64545"/>
          </a:solidFill>
        </p:spPr>
      </p:sp>
      <p:sp>
        <p:nvSpPr>
          <p:cNvPr id="1048726" name="Text 19"/>
          <p:cNvSpPr/>
          <p:nvPr/>
        </p:nvSpPr>
        <p:spPr>
          <a:xfrm>
            <a:off x="6565392" y="2907792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HTTPS or an untrusted certificate</a:t>
            </a:r>
            <a:endParaRPr dirty="0" sz="1200" lang="en-US"/>
          </a:p>
        </p:txBody>
      </p:sp>
      <p:sp>
        <p:nvSpPr>
          <p:cNvPr id="1048727" name="Shape 20"/>
          <p:cNvSpPr/>
          <p:nvPr/>
        </p:nvSpPr>
        <p:spPr>
          <a:xfrm>
            <a:off x="6263640" y="3465576"/>
            <a:ext cx="201168" cy="201168"/>
          </a:xfrm>
          <a:prstGeom prst="ellipse"/>
          <a:solidFill>
            <a:srgbClr val="D64545"/>
          </a:solidFill>
        </p:spPr>
      </p:sp>
      <p:sp>
        <p:nvSpPr>
          <p:cNvPr id="1048728" name="Text 21"/>
          <p:cNvSpPr/>
          <p:nvPr/>
        </p:nvSpPr>
        <p:spPr>
          <a:xfrm>
            <a:off x="6565392" y="3438144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via an unsolicited link/message</a:t>
            </a:r>
            <a:endParaRPr dirty="0" sz="1200" lang="en-US"/>
          </a:p>
        </p:txBody>
      </p:sp>
      <p:sp>
        <p:nvSpPr>
          <p:cNvPr id="1048729" name="Shape 22"/>
          <p:cNvSpPr/>
          <p:nvPr/>
        </p:nvSpPr>
        <p:spPr>
          <a:xfrm>
            <a:off x="6263640" y="3995928"/>
            <a:ext cx="201168" cy="201168"/>
          </a:xfrm>
          <a:prstGeom prst="ellipse"/>
          <a:solidFill>
            <a:srgbClr val="D64545"/>
          </a:solidFill>
        </p:spPr>
      </p:sp>
      <p:sp>
        <p:nvSpPr>
          <p:cNvPr id="1048730" name="Text 23"/>
          <p:cNvSpPr/>
          <p:nvPr/>
        </p:nvSpPr>
        <p:spPr>
          <a:xfrm>
            <a:off x="6565392" y="3968496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an unfamiliar page</a:t>
            </a:r>
            <a:endParaRPr dirty="0" sz="1200" lang="en-US"/>
          </a:p>
        </p:txBody>
      </p:sp>
      <p:sp>
        <p:nvSpPr>
          <p:cNvPr id="1048731" name="Shape 24"/>
          <p:cNvSpPr/>
          <p:nvPr/>
        </p:nvSpPr>
        <p:spPr>
          <a:xfrm>
            <a:off x="6263640" y="4526280"/>
            <a:ext cx="201168" cy="201168"/>
          </a:xfrm>
          <a:prstGeom prst="ellipse"/>
          <a:solidFill>
            <a:srgbClr val="D64545"/>
          </a:solidFill>
        </p:spPr>
      </p:sp>
      <p:sp>
        <p:nvSpPr>
          <p:cNvPr id="1048732" name="Text 25"/>
          <p:cNvSpPr/>
          <p:nvPr/>
        </p:nvSpPr>
        <p:spPr>
          <a:xfrm>
            <a:off x="6565392" y="4498848"/>
            <a:ext cx="4297680" cy="457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spelling, layout, or logo quality</a:t>
            </a:r>
            <a:endParaRPr dirty="0" sz="1200" lang="en-US"/>
          </a:p>
        </p:txBody>
      </p:sp>
      <p:sp>
        <p:nvSpPr>
          <p:cNvPr id="1048733" name="Shape 26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734" name="Shape 27"/>
          <p:cNvSpPr/>
          <p:nvPr/>
        </p:nvSpPr>
        <p:spPr>
          <a:xfrm>
            <a:off x="777240" y="5541264"/>
            <a:ext cx="411480" cy="411480"/>
          </a:xfrm>
          <a:prstGeom prst="ellipse"/>
          <a:solidFill>
            <a:srgbClr val="E8823C"/>
          </a:solidFill>
        </p:spPr>
      </p:sp>
      <p:pic>
        <p:nvPicPr>
          <p:cNvPr id="2097188" name="Image 2" descr="icons/lock_whit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82396" y="5646420"/>
            <a:ext cx="201168" cy="201168"/>
          </a:xfrm>
          <a:prstGeom prst="rect"/>
        </p:spPr>
      </p:pic>
      <p:sp>
        <p:nvSpPr>
          <p:cNvPr id="1048735" name="Text 28"/>
          <p:cNvSpPr/>
          <p:nvPr/>
        </p:nvSpPr>
        <p:spPr>
          <a:xfrm>
            <a:off x="1325880" y="5349240"/>
            <a:ext cx="987552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r>
              <a:rPr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alone does NOT prove that a website is legitimate. Always verify the full domain.</a:t>
            </a:r>
            <a:endParaRPr dirty="0" sz="1350" lang="en-US"/>
          </a:p>
        </p:txBody>
      </p:sp>
      <p:sp>
        <p:nvSpPr>
          <p:cNvPr id="1048736" name="Text 29"/>
          <p:cNvSpPr/>
          <p:nvPr/>
        </p:nvSpPr>
        <p:spPr>
          <a:xfrm>
            <a:off x="11643055" y="644652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0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ext 0"/>
          <p:cNvSpPr/>
          <p:nvPr/>
        </p:nvSpPr>
        <p:spPr>
          <a:xfrm>
            <a:off x="548640" y="320040"/>
            <a:ext cx="914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E0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dirty="0" sz="1600" lang="en-US"/>
          </a:p>
        </p:txBody>
      </p:sp>
      <p:sp>
        <p:nvSpPr>
          <p:cNvPr id="1048741" name="Text 1"/>
          <p:cNvSpPr/>
          <p:nvPr/>
        </p:nvSpPr>
        <p:spPr>
          <a:xfrm>
            <a:off x="548640" y="594360"/>
            <a:ext cx="91440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&amp; Security Tips</a:t>
            </a:r>
            <a:endParaRPr dirty="0" sz="3000" lang="en-US"/>
          </a:p>
        </p:txBody>
      </p:sp>
      <p:sp>
        <p:nvSpPr>
          <p:cNvPr id="1048742" name="Shape 2"/>
          <p:cNvSpPr/>
          <p:nvPr/>
        </p:nvSpPr>
        <p:spPr>
          <a:xfrm>
            <a:off x="548640" y="150876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743" name="Shape 3"/>
          <p:cNvSpPr/>
          <p:nvPr/>
        </p:nvSpPr>
        <p:spPr>
          <a:xfrm>
            <a:off x="822960" y="1737360"/>
            <a:ext cx="502920" cy="502920"/>
          </a:xfrm>
          <a:prstGeom prst="ellipse"/>
          <a:solidFill>
            <a:srgbClr val="E8823C"/>
          </a:solidFill>
        </p:spPr>
      </p:sp>
      <p:pic>
        <p:nvPicPr>
          <p:cNvPr id="2097189" name="Image 0" descr="icons/book_whi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41832" y="1856232"/>
            <a:ext cx="265176" cy="265176"/>
          </a:xfrm>
          <a:prstGeom prst="rect"/>
        </p:spPr>
      </p:pic>
      <p:sp>
        <p:nvSpPr>
          <p:cNvPr id="1048744" name="Text 4"/>
          <p:cNvSpPr/>
          <p:nvPr/>
        </p:nvSpPr>
        <p:spPr>
          <a:xfrm>
            <a:off x="1463040" y="1783080"/>
            <a:ext cx="393192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50" lang="en-US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(Fictional)</a:t>
            </a:r>
            <a:endParaRPr dirty="0" sz="1450" lang="en-US"/>
          </a:p>
        </p:txBody>
      </p:sp>
      <p:sp>
        <p:nvSpPr>
          <p:cNvPr id="1048745" name="Text 5"/>
          <p:cNvSpPr/>
          <p:nvPr/>
        </p:nvSpPr>
        <p:spPr>
          <a:xfrm>
            <a:off x="868680" y="2468880"/>
            <a:ext cx="4434840" cy="228600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25000"/>
              </a:lnSpc>
              <a:buNone/>
            </a:pPr>
            <a:r>
              <a:rPr dirty="0" sz="1400" i="1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student receives an email claiming to be from a university portal, asking them to verify their account through a link. The student checks the domain and realizes it does not match the university's official website — and reports it instead of clicking."</a:t>
            </a:r>
            <a:endParaRPr dirty="0" sz="1400" lang="en-US"/>
          </a:p>
        </p:txBody>
      </p:sp>
      <p:sp>
        <p:nvSpPr>
          <p:cNvPr id="1048746" name="Shape 6"/>
          <p:cNvSpPr/>
          <p:nvPr/>
        </p:nvSpPr>
        <p:spPr>
          <a:xfrm>
            <a:off x="868680" y="4892040"/>
            <a:ext cx="4434840" cy="0"/>
          </a:xfrm>
          <a:prstGeom prst="line"/>
          <a:noFill/>
          <a:ln w="12700">
            <a:solidFill>
              <a:srgbClr val="3A4A6B"/>
            </a:solidFill>
            <a:prstDash val="solid"/>
          </a:ln>
        </p:spPr>
      </p:sp>
      <p:pic>
        <p:nvPicPr>
          <p:cNvPr id="2097190" name="Image 1" descr="icons/check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8680" y="5074920"/>
            <a:ext cx="274320" cy="274320"/>
          </a:xfrm>
          <a:prstGeom prst="rect"/>
        </p:spPr>
      </p:pic>
      <p:sp>
        <p:nvSpPr>
          <p:cNvPr id="1048747" name="Text 7"/>
          <p:cNvSpPr/>
          <p:nvPr/>
        </p:nvSpPr>
        <p:spPr>
          <a:xfrm>
            <a:off x="1234440" y="5074920"/>
            <a:ext cx="4023360" cy="5486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50" lang="en-US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before clicking prevented a compromise.</a:t>
            </a:r>
            <a:endParaRPr dirty="0" sz="1250" lang="en-US"/>
          </a:p>
        </p:txBody>
      </p:sp>
      <p:sp>
        <p:nvSpPr>
          <p:cNvPr id="1048748" name="Shape 8"/>
          <p:cNvSpPr/>
          <p:nvPr/>
        </p:nvSpPr>
        <p:spPr>
          <a:xfrm>
            <a:off x="5852160" y="1508760"/>
            <a:ext cx="57607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749" name="Text 9"/>
          <p:cNvSpPr/>
          <p:nvPr/>
        </p:nvSpPr>
        <p:spPr>
          <a:xfrm>
            <a:off x="6172200" y="1737360"/>
            <a:ext cx="5029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SHOULD DO</a:t>
            </a:r>
            <a:endParaRPr dirty="0" sz="1500" lang="en-US"/>
          </a:p>
        </p:txBody>
      </p:sp>
      <p:sp>
        <p:nvSpPr>
          <p:cNvPr id="1048750" name="Shape 10"/>
          <p:cNvSpPr/>
          <p:nvPr/>
        </p:nvSpPr>
        <p:spPr>
          <a:xfrm>
            <a:off x="6172200" y="2240280"/>
            <a:ext cx="365760" cy="36576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91" name="Image 2" descr="icons/clock_r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263640" y="2331720"/>
            <a:ext cx="182880" cy="182880"/>
          </a:xfrm>
          <a:prstGeom prst="rect"/>
        </p:spPr>
      </p:pic>
      <p:sp>
        <p:nvSpPr>
          <p:cNvPr id="1048751" name="Text 11"/>
          <p:cNvSpPr/>
          <p:nvPr/>
        </p:nvSpPr>
        <p:spPr>
          <a:xfrm>
            <a:off x="6675120" y="2240280"/>
            <a:ext cx="47548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immediately</a:t>
            </a:r>
            <a:endParaRPr dirty="0" sz="1300" lang="en-US"/>
          </a:p>
        </p:txBody>
      </p:sp>
      <p:sp>
        <p:nvSpPr>
          <p:cNvPr id="1048752" name="Shape 12"/>
          <p:cNvSpPr/>
          <p:nvPr/>
        </p:nvSpPr>
        <p:spPr>
          <a:xfrm>
            <a:off x="6172200" y="2724912"/>
            <a:ext cx="365760" cy="36576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92" name="Image 3" descr="icons/user_navy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263640" y="2816352"/>
            <a:ext cx="182880" cy="182880"/>
          </a:xfrm>
          <a:prstGeom prst="rect"/>
        </p:spPr>
      </p:pic>
      <p:sp>
        <p:nvSpPr>
          <p:cNvPr id="1048753" name="Text 13"/>
          <p:cNvSpPr/>
          <p:nvPr/>
        </p:nvSpPr>
        <p:spPr>
          <a:xfrm>
            <a:off x="6675120" y="2724912"/>
            <a:ext cx="47548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dirty="0" sz="1300" lang="en-US"/>
          </a:p>
        </p:txBody>
      </p:sp>
      <p:sp>
        <p:nvSpPr>
          <p:cNvPr id="1048754" name="Shape 14"/>
          <p:cNvSpPr/>
          <p:nvPr/>
        </p:nvSpPr>
        <p:spPr>
          <a:xfrm>
            <a:off x="6172200" y="3209544"/>
            <a:ext cx="365760" cy="36576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93" name="Image 4" descr="icons/search_navy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263640" y="3300984"/>
            <a:ext cx="182880" cy="182880"/>
          </a:xfrm>
          <a:prstGeom prst="rect"/>
        </p:spPr>
      </p:pic>
      <p:sp>
        <p:nvSpPr>
          <p:cNvPr id="1048755" name="Text 15"/>
          <p:cNvSpPr/>
          <p:nvPr/>
        </p:nvSpPr>
        <p:spPr>
          <a:xfrm>
            <a:off x="6675120" y="3209544"/>
            <a:ext cx="47548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domain carefully</a:t>
            </a:r>
            <a:endParaRPr dirty="0" sz="1300" lang="en-US"/>
          </a:p>
        </p:txBody>
      </p:sp>
      <p:sp>
        <p:nvSpPr>
          <p:cNvPr id="1048756" name="Shape 16"/>
          <p:cNvSpPr/>
          <p:nvPr/>
        </p:nvSpPr>
        <p:spPr>
          <a:xfrm>
            <a:off x="6172200" y="3694176"/>
            <a:ext cx="365760" cy="36576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94" name="Image 5" descr="icons/globe_navy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263640" y="3785616"/>
            <a:ext cx="182880" cy="182880"/>
          </a:xfrm>
          <a:prstGeom prst="rect"/>
        </p:spPr>
      </p:pic>
      <p:sp>
        <p:nvSpPr>
          <p:cNvPr id="1048757" name="Text 17"/>
          <p:cNvSpPr/>
          <p:nvPr/>
        </p:nvSpPr>
        <p:spPr>
          <a:xfrm>
            <a:off x="6675120" y="3694176"/>
            <a:ext cx="47548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official website manually</a:t>
            </a:r>
            <a:endParaRPr dirty="0" sz="1300" lang="en-US"/>
          </a:p>
        </p:txBody>
      </p:sp>
      <p:sp>
        <p:nvSpPr>
          <p:cNvPr id="1048758" name="Shape 18"/>
          <p:cNvSpPr/>
          <p:nvPr/>
        </p:nvSpPr>
        <p:spPr>
          <a:xfrm>
            <a:off x="6172200" y="4178808"/>
            <a:ext cx="365760" cy="36576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95" name="Image 6" descr="icons/lock_navy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6263640" y="4270248"/>
            <a:ext cx="182880" cy="182880"/>
          </a:xfrm>
          <a:prstGeom prst="rect"/>
        </p:spPr>
      </p:pic>
      <p:sp>
        <p:nvSpPr>
          <p:cNvPr id="1048759" name="Text 19"/>
          <p:cNvSpPr/>
          <p:nvPr/>
        </p:nvSpPr>
        <p:spPr>
          <a:xfrm>
            <a:off x="6675120" y="4178808"/>
            <a:ext cx="47548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OTP / passwords</a:t>
            </a:r>
            <a:endParaRPr dirty="0" sz="1300" lang="en-US"/>
          </a:p>
        </p:txBody>
      </p:sp>
      <p:sp>
        <p:nvSpPr>
          <p:cNvPr id="1048760" name="Shape 20"/>
          <p:cNvSpPr/>
          <p:nvPr/>
        </p:nvSpPr>
        <p:spPr>
          <a:xfrm>
            <a:off x="6172200" y="4663440"/>
            <a:ext cx="365760" cy="36576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96" name="Image 7" descr="icons/flag_red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6263640" y="4754880"/>
            <a:ext cx="182880" cy="182880"/>
          </a:xfrm>
          <a:prstGeom prst="rect"/>
        </p:spPr>
      </p:pic>
      <p:sp>
        <p:nvSpPr>
          <p:cNvPr id="1048761" name="Text 21"/>
          <p:cNvSpPr/>
          <p:nvPr/>
        </p:nvSpPr>
        <p:spPr>
          <a:xfrm>
            <a:off x="6675120" y="4663440"/>
            <a:ext cx="47548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</a:t>
            </a:r>
            <a:endParaRPr dirty="0" sz="1300" lang="en-US"/>
          </a:p>
        </p:txBody>
      </p:sp>
      <p:sp>
        <p:nvSpPr>
          <p:cNvPr id="1048762" name="Shape 22"/>
          <p:cNvSpPr/>
          <p:nvPr/>
        </p:nvSpPr>
        <p:spPr>
          <a:xfrm>
            <a:off x="6172200" y="5148072"/>
            <a:ext cx="365760" cy="365760"/>
          </a:xfrm>
          <a:prstGeom prst="ellipse"/>
          <a:solidFill>
            <a:srgbClr val="F4F6F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97" name="Image 8" descr="icons/shield_navy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6263640" y="5239512"/>
            <a:ext cx="182880" cy="182880"/>
          </a:xfrm>
          <a:prstGeom prst="rect"/>
        </p:spPr>
      </p:pic>
      <p:sp>
        <p:nvSpPr>
          <p:cNvPr id="1048763" name="Text 23"/>
          <p:cNvSpPr/>
          <p:nvPr/>
        </p:nvSpPr>
        <p:spPr>
          <a:xfrm>
            <a:off x="6675120" y="5148072"/>
            <a:ext cx="47548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</a:t>
            </a:r>
            <a:endParaRPr dirty="0" sz="1300" lang="en-US"/>
          </a:p>
        </p:txBody>
      </p:sp>
      <p:sp>
        <p:nvSpPr>
          <p:cNvPr id="1048764" name="Text 24"/>
          <p:cNvSpPr/>
          <p:nvPr/>
        </p:nvSpPr>
        <p:spPr>
          <a:xfrm>
            <a:off x="11643055" y="644652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10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Text 0"/>
          <p:cNvSpPr/>
          <p:nvPr/>
        </p:nvSpPr>
        <p:spPr>
          <a:xfrm>
            <a:off x="548640" y="274320"/>
            <a:ext cx="914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3A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dirty="0" sz="1600" lang="en-US"/>
          </a:p>
        </p:txBody>
      </p:sp>
      <p:sp>
        <p:nvSpPr>
          <p:cNvPr id="1048769" name="Shape 1"/>
          <p:cNvSpPr/>
          <p:nvPr/>
        </p:nvSpPr>
        <p:spPr>
          <a:xfrm>
            <a:off x="548640" y="594360"/>
            <a:ext cx="502920" cy="502920"/>
          </a:xfrm>
          <a:prstGeom prst="ellipse"/>
          <a:solidFill>
            <a:srgbClr val="E8823C"/>
          </a:solidFill>
        </p:spPr>
      </p:sp>
      <p:pic>
        <p:nvPicPr>
          <p:cNvPr id="2097198" name="Image 0" descr="icons/helpcircle_whi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7512" y="713232"/>
            <a:ext cx="265176" cy="265176"/>
          </a:xfrm>
          <a:prstGeom prst="rect"/>
        </p:spPr>
      </p:pic>
      <p:sp>
        <p:nvSpPr>
          <p:cNvPr id="1048770" name="Text 2"/>
          <p:cNvSpPr/>
          <p:nvPr/>
        </p:nvSpPr>
        <p:spPr>
          <a:xfrm>
            <a:off x="1188720" y="548640"/>
            <a:ext cx="54864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dirty="0" sz="3000" lang="en-US"/>
          </a:p>
        </p:txBody>
      </p:sp>
      <p:sp>
        <p:nvSpPr>
          <p:cNvPr id="1048771" name="Shape 3"/>
          <p:cNvSpPr/>
          <p:nvPr/>
        </p:nvSpPr>
        <p:spPr>
          <a:xfrm>
            <a:off x="548640" y="13716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223357"/>
          </a:solidFill>
        </p:spPr>
      </p:sp>
      <p:sp>
        <p:nvSpPr>
          <p:cNvPr id="1048772" name="Shape 4"/>
          <p:cNvSpPr/>
          <p:nvPr/>
        </p:nvSpPr>
        <p:spPr>
          <a:xfrm>
            <a:off x="713232" y="1536192"/>
            <a:ext cx="365760" cy="365760"/>
          </a:xfrm>
          <a:prstGeom prst="ellipse"/>
          <a:solidFill>
            <a:srgbClr val="E8823C"/>
          </a:solidFill>
        </p:spPr>
      </p:sp>
      <p:sp>
        <p:nvSpPr>
          <p:cNvPr id="1048773" name="Text 5"/>
          <p:cNvSpPr/>
          <p:nvPr/>
        </p:nvSpPr>
        <p:spPr>
          <a:xfrm>
            <a:off x="713232" y="1536192"/>
            <a:ext cx="3657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500" lang="en-US"/>
          </a:p>
        </p:txBody>
      </p:sp>
      <p:sp>
        <p:nvSpPr>
          <p:cNvPr id="1048774" name="Text 6"/>
          <p:cNvSpPr/>
          <p:nvPr/>
        </p:nvSpPr>
        <p:spPr>
          <a:xfrm>
            <a:off x="1207008" y="1444752"/>
            <a:ext cx="4526280" cy="813816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common phishing warning sign?</a:t>
            </a:r>
            <a:endParaRPr dirty="0" sz="10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Urgent request for sensitive info   B) Normal greeting</a:t>
            </a:r>
            <a:endParaRPr dirty="0" sz="10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Official contact information   D) Expected communication</a:t>
            </a:r>
            <a:endParaRPr dirty="0" sz="1050" lang="en-US"/>
          </a:p>
        </p:txBody>
      </p:sp>
      <p:sp>
        <p:nvSpPr>
          <p:cNvPr id="1048775" name="Shape 7"/>
          <p:cNvSpPr/>
          <p:nvPr/>
        </p:nvSpPr>
        <p:spPr>
          <a:xfrm>
            <a:off x="548640" y="2496312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223357"/>
          </a:solidFill>
        </p:spPr>
      </p:sp>
      <p:sp>
        <p:nvSpPr>
          <p:cNvPr id="1048776" name="Shape 8"/>
          <p:cNvSpPr/>
          <p:nvPr/>
        </p:nvSpPr>
        <p:spPr>
          <a:xfrm>
            <a:off x="713232" y="2660904"/>
            <a:ext cx="365760" cy="365760"/>
          </a:xfrm>
          <a:prstGeom prst="ellipse"/>
          <a:solidFill>
            <a:srgbClr val="E8823C"/>
          </a:solidFill>
        </p:spPr>
      </p:sp>
      <p:sp>
        <p:nvSpPr>
          <p:cNvPr id="1048777" name="Text 9"/>
          <p:cNvSpPr/>
          <p:nvPr/>
        </p:nvSpPr>
        <p:spPr>
          <a:xfrm>
            <a:off x="713232" y="2660904"/>
            <a:ext cx="3657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500" lang="en-US"/>
          </a:p>
        </p:txBody>
      </p:sp>
      <p:sp>
        <p:nvSpPr>
          <p:cNvPr id="1048778" name="Text 10"/>
          <p:cNvSpPr/>
          <p:nvPr/>
        </p:nvSpPr>
        <p:spPr>
          <a:xfrm>
            <a:off x="1207008" y="2569464"/>
            <a:ext cx="4526280" cy="813816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share an OTP through email?</a:t>
            </a:r>
            <a:endParaRPr dirty="0" sz="10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Yes     B) No</a:t>
            </a:r>
            <a:endParaRPr dirty="0" sz="1050" lang="en-US"/>
          </a:p>
        </p:txBody>
      </p:sp>
      <p:sp>
        <p:nvSpPr>
          <p:cNvPr id="1048779" name="Shape 11"/>
          <p:cNvSpPr/>
          <p:nvPr/>
        </p:nvSpPr>
        <p:spPr>
          <a:xfrm>
            <a:off x="548640" y="3621024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223357"/>
          </a:solidFill>
        </p:spPr>
      </p:sp>
      <p:sp>
        <p:nvSpPr>
          <p:cNvPr id="1048780" name="Shape 12"/>
          <p:cNvSpPr/>
          <p:nvPr/>
        </p:nvSpPr>
        <p:spPr>
          <a:xfrm>
            <a:off x="713232" y="3785616"/>
            <a:ext cx="365760" cy="365760"/>
          </a:xfrm>
          <a:prstGeom prst="ellipse"/>
          <a:solidFill>
            <a:srgbClr val="E8823C"/>
          </a:solidFill>
        </p:spPr>
      </p:sp>
      <p:sp>
        <p:nvSpPr>
          <p:cNvPr id="1048781" name="Text 13"/>
          <p:cNvSpPr/>
          <p:nvPr/>
        </p:nvSpPr>
        <p:spPr>
          <a:xfrm>
            <a:off x="713232" y="3785616"/>
            <a:ext cx="3657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500" lang="en-US"/>
          </a:p>
        </p:txBody>
      </p:sp>
      <p:sp>
        <p:nvSpPr>
          <p:cNvPr id="1048782" name="Text 14"/>
          <p:cNvSpPr/>
          <p:nvPr/>
        </p:nvSpPr>
        <p:spPr>
          <a:xfrm>
            <a:off x="1207008" y="3694176"/>
            <a:ext cx="4526280" cy="813816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HTTPS alone prove a website is legitimate?</a:t>
            </a:r>
            <a:endParaRPr dirty="0" sz="10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Yes     B) No</a:t>
            </a:r>
            <a:endParaRPr dirty="0" sz="1050" lang="en-US"/>
          </a:p>
        </p:txBody>
      </p:sp>
      <p:sp>
        <p:nvSpPr>
          <p:cNvPr id="1048783" name="Shape 15"/>
          <p:cNvSpPr/>
          <p:nvPr/>
        </p:nvSpPr>
        <p:spPr>
          <a:xfrm>
            <a:off x="6263640" y="13716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223357"/>
          </a:solidFill>
        </p:spPr>
      </p:sp>
      <p:sp>
        <p:nvSpPr>
          <p:cNvPr id="1048784" name="Shape 16"/>
          <p:cNvSpPr/>
          <p:nvPr/>
        </p:nvSpPr>
        <p:spPr>
          <a:xfrm>
            <a:off x="6428232" y="1536192"/>
            <a:ext cx="365760" cy="365760"/>
          </a:xfrm>
          <a:prstGeom prst="ellipse"/>
          <a:solidFill>
            <a:srgbClr val="E8823C"/>
          </a:solidFill>
        </p:spPr>
      </p:sp>
      <p:sp>
        <p:nvSpPr>
          <p:cNvPr id="1048785" name="Text 17"/>
          <p:cNvSpPr/>
          <p:nvPr/>
        </p:nvSpPr>
        <p:spPr>
          <a:xfrm>
            <a:off x="6428232" y="1536192"/>
            <a:ext cx="3657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500" lang="en-US"/>
          </a:p>
        </p:txBody>
      </p:sp>
      <p:sp>
        <p:nvSpPr>
          <p:cNvPr id="1048786" name="Text 18"/>
          <p:cNvSpPr/>
          <p:nvPr/>
        </p:nvSpPr>
        <p:spPr>
          <a:xfrm>
            <a:off x="6922008" y="1444752"/>
            <a:ext cx="4526280" cy="813816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do with a suspicious link?</a:t>
            </a:r>
            <a:endParaRPr dirty="0" sz="10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it   B) Forward it   C) Verify it independently   D) Enter your password</a:t>
            </a:r>
            <a:endParaRPr dirty="0" sz="1050" lang="en-US"/>
          </a:p>
        </p:txBody>
      </p:sp>
      <p:sp>
        <p:nvSpPr>
          <p:cNvPr id="1048787" name="Shape 19"/>
          <p:cNvSpPr/>
          <p:nvPr/>
        </p:nvSpPr>
        <p:spPr>
          <a:xfrm>
            <a:off x="6263640" y="2496312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223357"/>
          </a:solidFill>
        </p:spPr>
      </p:sp>
      <p:sp>
        <p:nvSpPr>
          <p:cNvPr id="1048788" name="Shape 20"/>
          <p:cNvSpPr/>
          <p:nvPr/>
        </p:nvSpPr>
        <p:spPr>
          <a:xfrm>
            <a:off x="6428232" y="2660904"/>
            <a:ext cx="365760" cy="365760"/>
          </a:xfrm>
          <a:prstGeom prst="ellipse"/>
          <a:solidFill>
            <a:srgbClr val="E8823C"/>
          </a:solidFill>
        </p:spPr>
      </p:sp>
      <p:sp>
        <p:nvSpPr>
          <p:cNvPr id="1048789" name="Text 21"/>
          <p:cNvSpPr/>
          <p:nvPr/>
        </p:nvSpPr>
        <p:spPr>
          <a:xfrm>
            <a:off x="6428232" y="2660904"/>
            <a:ext cx="3657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500" lang="en-US"/>
          </a:p>
        </p:txBody>
      </p:sp>
      <p:sp>
        <p:nvSpPr>
          <p:cNvPr id="1048790" name="Text 22"/>
          <p:cNvSpPr/>
          <p:nvPr/>
        </p:nvSpPr>
        <p:spPr>
          <a:xfrm>
            <a:off x="6922008" y="2569464"/>
            <a:ext cx="4526280" cy="813816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 response to an unexpected account-security email?</a:t>
            </a:r>
            <a:endParaRPr dirty="0" sz="10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immediately   B) Verify via official website</a:t>
            </a:r>
            <a:endParaRPr dirty="0" sz="10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Reply with your password   D) Share with everyone</a:t>
            </a:r>
            <a:endParaRPr dirty="0" sz="1050" lang="en-US"/>
          </a:p>
        </p:txBody>
      </p:sp>
      <p:sp>
        <p:nvSpPr>
          <p:cNvPr id="1048791" name="Shape 23"/>
          <p:cNvSpPr/>
          <p:nvPr/>
        </p:nvSpPr>
        <p:spPr>
          <a:xfrm>
            <a:off x="6263640" y="3621024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</p:spPr>
      </p:sp>
      <p:sp>
        <p:nvSpPr>
          <p:cNvPr id="1048792" name="Text 24"/>
          <p:cNvSpPr/>
          <p:nvPr/>
        </p:nvSpPr>
        <p:spPr>
          <a:xfrm>
            <a:off x="6446520" y="3621024"/>
            <a:ext cx="4983480" cy="9601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r>
              <a:rPr b="1" dirty="0" sz="14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1-A   2-B   3-B   4-C   5-B</a:t>
            </a:r>
            <a:endParaRPr dirty="0" sz="1400" lang="en-US"/>
          </a:p>
        </p:txBody>
      </p:sp>
      <p:sp>
        <p:nvSpPr>
          <p:cNvPr id="1048793" name="Shape 25"/>
          <p:cNvSpPr/>
          <p:nvPr/>
        </p:nvSpPr>
        <p:spPr>
          <a:xfrm>
            <a:off x="548640" y="4882896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8823C"/>
          </a:solidFill>
        </p:spPr>
      </p:sp>
      <p:sp>
        <p:nvSpPr>
          <p:cNvPr id="1048794" name="Text 26"/>
          <p:cNvSpPr/>
          <p:nvPr/>
        </p:nvSpPr>
        <p:spPr>
          <a:xfrm>
            <a:off x="548640" y="4882896"/>
            <a:ext cx="110642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"Think Before You Click."</a:t>
            </a:r>
            <a:endParaRPr dirty="0" sz="2200" lang="en-US"/>
          </a:p>
        </p:txBody>
      </p:sp>
      <p:sp>
        <p:nvSpPr>
          <p:cNvPr id="1048795" name="Text 27"/>
          <p:cNvSpPr/>
          <p:nvPr/>
        </p:nvSpPr>
        <p:spPr>
          <a:xfrm>
            <a:off x="11643055" y="644652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10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9" name="Image 0" descr="icons/book_navy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48640" y="502920"/>
            <a:ext cx="365760" cy="365760"/>
          </a:xfrm>
          <a:prstGeom prst="rect"/>
        </p:spPr>
      </p:pic>
      <p:sp>
        <p:nvSpPr>
          <p:cNvPr id="1048799" name="Text 0"/>
          <p:cNvSpPr/>
          <p:nvPr/>
        </p:nvSpPr>
        <p:spPr>
          <a:xfrm>
            <a:off x="1051560" y="457200"/>
            <a:ext cx="82296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Resources</a:t>
            </a:r>
            <a:endParaRPr dirty="0" sz="2800" lang="en-US"/>
          </a:p>
        </p:txBody>
      </p:sp>
      <p:sp>
        <p:nvSpPr>
          <p:cNvPr id="1048800" name="Shape 1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801" name="Shape 2"/>
          <p:cNvSpPr/>
          <p:nvPr/>
        </p:nvSpPr>
        <p:spPr>
          <a:xfrm>
            <a:off x="777240" y="1682496"/>
            <a:ext cx="438912" cy="438912"/>
          </a:xfrm>
          <a:prstGeom prst="ellipse"/>
          <a:solidFill>
            <a:srgbClr val="1B2A4A"/>
          </a:solidFill>
        </p:spPr>
      </p:sp>
      <p:pic>
        <p:nvPicPr>
          <p:cNvPr id="2097200" name="Image 1" descr="icons/globe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96112" y="1801368"/>
            <a:ext cx="201168" cy="201168"/>
          </a:xfrm>
          <a:prstGeom prst="rect"/>
        </p:spPr>
      </p:pic>
      <p:sp>
        <p:nvSpPr>
          <p:cNvPr id="1048802" name="Text 3"/>
          <p:cNvSpPr/>
          <p:nvPr/>
        </p:nvSpPr>
        <p:spPr>
          <a:xfrm>
            <a:off x="1371600" y="1572768"/>
            <a:ext cx="996696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— Cybersecurity &amp; Infrastructure Security Agency</a:t>
            </a:r>
            <a:endParaRPr dirty="0" sz="1400" lang="en-US"/>
          </a:p>
        </p:txBody>
      </p:sp>
      <p:sp>
        <p:nvSpPr>
          <p:cNvPr id="1048803" name="Text 4"/>
          <p:cNvSpPr/>
          <p:nvPr/>
        </p:nvSpPr>
        <p:spPr>
          <a:xfrm>
            <a:off x="1371600" y="1901952"/>
            <a:ext cx="996696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and Avoiding Phishing Scams — cisa.gov</a:t>
            </a:r>
            <a:endParaRPr dirty="0" sz="1200" lang="en-US"/>
          </a:p>
        </p:txBody>
      </p:sp>
      <p:sp>
        <p:nvSpPr>
          <p:cNvPr id="1048804" name="Shape 5"/>
          <p:cNvSpPr/>
          <p:nvPr/>
        </p:nvSpPr>
        <p:spPr>
          <a:xfrm>
            <a:off x="548640" y="25146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805" name="Shape 6"/>
          <p:cNvSpPr/>
          <p:nvPr/>
        </p:nvSpPr>
        <p:spPr>
          <a:xfrm>
            <a:off x="777240" y="2734056"/>
            <a:ext cx="438912" cy="438912"/>
          </a:xfrm>
          <a:prstGeom prst="ellipse"/>
          <a:solidFill>
            <a:srgbClr val="1B2A4A"/>
          </a:solidFill>
        </p:spPr>
      </p:sp>
      <p:pic>
        <p:nvPicPr>
          <p:cNvPr id="2097201" name="Image 2" descr="icons/globe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96112" y="2852928"/>
            <a:ext cx="201168" cy="201168"/>
          </a:xfrm>
          <a:prstGeom prst="rect"/>
        </p:spPr>
      </p:pic>
      <p:sp>
        <p:nvSpPr>
          <p:cNvPr id="1048806" name="Text 7"/>
          <p:cNvSpPr/>
          <p:nvPr/>
        </p:nvSpPr>
        <p:spPr>
          <a:xfrm>
            <a:off x="1371600" y="2624328"/>
            <a:ext cx="996696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— Federal Trade Commission</a:t>
            </a:r>
            <a:endParaRPr dirty="0" sz="1400" lang="en-US"/>
          </a:p>
        </p:txBody>
      </p:sp>
      <p:sp>
        <p:nvSpPr>
          <p:cNvPr id="1048807" name="Text 8"/>
          <p:cNvSpPr/>
          <p:nvPr/>
        </p:nvSpPr>
        <p:spPr>
          <a:xfrm>
            <a:off x="1371600" y="2953512"/>
            <a:ext cx="996696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 and Avoid Phishing Scams — consumer.ftc.gov</a:t>
            </a:r>
            <a:endParaRPr dirty="0" sz="1200" lang="en-US"/>
          </a:p>
        </p:txBody>
      </p:sp>
      <p:sp>
        <p:nvSpPr>
          <p:cNvPr id="1048808" name="Shape 9"/>
          <p:cNvSpPr/>
          <p:nvPr/>
        </p:nvSpPr>
        <p:spPr>
          <a:xfrm>
            <a:off x="548640" y="35661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809" name="Shape 10"/>
          <p:cNvSpPr/>
          <p:nvPr/>
        </p:nvSpPr>
        <p:spPr>
          <a:xfrm>
            <a:off x="777240" y="3785616"/>
            <a:ext cx="438912" cy="438912"/>
          </a:xfrm>
          <a:prstGeom prst="ellipse"/>
          <a:solidFill>
            <a:srgbClr val="1B2A4A"/>
          </a:solidFill>
        </p:spPr>
      </p:sp>
      <p:pic>
        <p:nvPicPr>
          <p:cNvPr id="2097202" name="Image 3" descr="icons/globe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96112" y="3904488"/>
            <a:ext cx="201168" cy="201168"/>
          </a:xfrm>
          <a:prstGeom prst="rect"/>
        </p:spPr>
      </p:pic>
      <p:sp>
        <p:nvSpPr>
          <p:cNvPr id="1048810" name="Text 11"/>
          <p:cNvSpPr/>
          <p:nvPr/>
        </p:nvSpPr>
        <p:spPr>
          <a:xfrm>
            <a:off x="1371600" y="3675888"/>
            <a:ext cx="996696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— Internet Crime Complaint Center (IC3)</a:t>
            </a:r>
            <a:endParaRPr dirty="0" sz="1400" lang="en-US"/>
          </a:p>
        </p:txBody>
      </p:sp>
      <p:sp>
        <p:nvSpPr>
          <p:cNvPr id="1048811" name="Text 12"/>
          <p:cNvSpPr/>
          <p:nvPr/>
        </p:nvSpPr>
        <p:spPr>
          <a:xfrm>
            <a:off x="1371600" y="4005072"/>
            <a:ext cx="996696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and Online Scam Reporting — ic3.gov</a:t>
            </a:r>
            <a:endParaRPr dirty="0" sz="1200" lang="en-US"/>
          </a:p>
        </p:txBody>
      </p:sp>
      <p:sp>
        <p:nvSpPr>
          <p:cNvPr id="1048812" name="Shape 13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  <a:effectLst>
            <a:outerShdw algn="bl" blurRad="101600" dir="5400000" dist="38100" kx="0" ky="0" rotWithShape="0" sx="100000" sy="100000">
              <a:srgbClr val="1B2A4A">
                <a:alpha val="18000"/>
              </a:srgbClr>
            </a:outerShdw>
          </a:effectLst>
        </p:spPr>
      </p:sp>
      <p:sp>
        <p:nvSpPr>
          <p:cNvPr id="1048813" name="Shape 14"/>
          <p:cNvSpPr/>
          <p:nvPr/>
        </p:nvSpPr>
        <p:spPr>
          <a:xfrm>
            <a:off x="777240" y="4837176"/>
            <a:ext cx="438912" cy="438912"/>
          </a:xfrm>
          <a:prstGeom prst="ellipse"/>
          <a:solidFill>
            <a:srgbClr val="1B2A4A"/>
          </a:solidFill>
        </p:spPr>
      </p:sp>
      <p:pic>
        <p:nvPicPr>
          <p:cNvPr id="2097203" name="Image 4" descr="icons/globe_whit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96112" y="4956048"/>
            <a:ext cx="201168" cy="201168"/>
          </a:xfrm>
          <a:prstGeom prst="rect"/>
        </p:spPr>
      </p:pic>
      <p:sp>
        <p:nvSpPr>
          <p:cNvPr id="1048814" name="Text 15"/>
          <p:cNvSpPr/>
          <p:nvPr/>
        </p:nvSpPr>
        <p:spPr>
          <a:xfrm>
            <a:off x="1371600" y="4727448"/>
            <a:ext cx="996696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NCSC — National Cyber Security Centre (UK)</a:t>
            </a:r>
            <a:endParaRPr dirty="0" sz="1400" lang="en-US"/>
          </a:p>
        </p:txBody>
      </p:sp>
      <p:sp>
        <p:nvSpPr>
          <p:cNvPr id="1048815" name="Text 16"/>
          <p:cNvSpPr/>
          <p:nvPr/>
        </p:nvSpPr>
        <p:spPr>
          <a:xfrm>
            <a:off x="1371600" y="5056632"/>
            <a:ext cx="9966960" cy="3657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Guidance for Individuals and Organisations — ncsc.gov.uk</a:t>
            </a:r>
            <a:endParaRPr dirty="0" sz="1200" lang="en-US"/>
          </a:p>
        </p:txBody>
      </p:sp>
      <p:sp>
        <p:nvSpPr>
          <p:cNvPr id="1048816" name="Text 17"/>
          <p:cNvSpPr/>
          <p:nvPr/>
        </p:nvSpPr>
        <p:spPr>
          <a:xfrm>
            <a:off x="548640" y="5806440"/>
            <a:ext cx="1106424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uses fictional examples for educational purposes only. General cybersecurity concepts are based on publicly available guidance from the sources above.</a:t>
            </a:r>
            <a:endParaRPr dirty="0" sz="1050" lang="en-US"/>
          </a:p>
        </p:txBody>
      </p:sp>
      <p:sp>
        <p:nvSpPr>
          <p:cNvPr id="1048817" name="Text 18"/>
          <p:cNvSpPr/>
          <p:nvPr/>
        </p:nvSpPr>
        <p:spPr>
          <a:xfrm>
            <a:off x="11643055" y="644652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1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2026-09-16T00:14:32Z</dcterms:created>
  <dcterms:modified xsi:type="dcterms:W3CDTF">2026-09-16T11:18:04Z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0010dad82e034ce583bee87707745c4f_23</vt:lpwstr>
  </property>
</Properties>
</file>